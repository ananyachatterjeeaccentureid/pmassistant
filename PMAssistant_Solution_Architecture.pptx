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005840"/>
            <a:ext cx="10972800" cy="64008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/>
            <a:r>
              <a:rPr sz="3800" b="1">
                <a:solidFill>
                  <a:srgbClr val="D8B85A"/>
                </a:solidFill>
                <a:latin typeface="Aptos Display"/>
              </a:rPr>
              <a:t>PM Assistant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783080"/>
            <a:ext cx="10515600" cy="50292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/>
            <a:r>
              <a:rPr sz="2500" b="1">
                <a:solidFill>
                  <a:srgbClr val="F5F2E9"/>
                </a:solidFill>
                <a:latin typeface="Aptos"/>
              </a:rPr>
              <a:t>TechOps Staffing Search - Solution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2423160"/>
            <a:ext cx="9875520" cy="41148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/>
            <a:r>
              <a:rPr sz="1600" b="0">
                <a:solidFill>
                  <a:srgbClr val="CEDCE6"/>
                </a:solidFill>
                <a:latin typeface="Aptos"/>
              </a:rPr>
              <a:t>Workbook-grounded structured resource discovery with Streamlit UI and FastAPI services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86200"/>
            <a:ext cx="2514600" cy="822960"/>
          </a:xfrm>
          <a:prstGeom prst="roundRect">
            <a:avLst/>
          </a:prstGeom>
          <a:solidFill>
            <a:srgbClr val="195487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F5F2E9"/>
                </a:solidFill>
                <a:latin typeface="Aptos"/>
              </a:rPr>
              <a:t>Natural-language staffing request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337560" y="4297680"/>
            <a:ext cx="731520" cy="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160520" y="3886200"/>
            <a:ext cx="2514600" cy="822960"/>
          </a:xfrm>
          <a:prstGeom prst="roundRect">
            <a:avLst/>
          </a:prstGeom>
          <a:solidFill>
            <a:srgbClr val="0F7E93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F5F2E9"/>
                </a:solidFill>
                <a:latin typeface="Aptos"/>
              </a:rPr>
              <a:t>Prompt parsing +
matching engine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766560" y="4297680"/>
            <a:ext cx="731519" cy="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7589520" y="3886200"/>
            <a:ext cx="2514600" cy="822960"/>
          </a:xfrm>
          <a:prstGeom prst="roundRect">
            <a:avLst/>
          </a:prstGeom>
          <a:solidFill>
            <a:srgbClr val="25855B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F5F2E9"/>
                </a:solidFill>
                <a:latin typeface="Aptos"/>
              </a:rPr>
              <a:t>Ranked, validated
resource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26480"/>
            <a:ext cx="3657600" cy="27432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/>
            <a:r>
              <a:rPr sz="1100" b="0">
                <a:solidFill>
                  <a:srgbClr val="748494"/>
                </a:solidFill>
                <a:latin typeface="Aptos"/>
              </a:rPr>
              <a:t>Prepared 15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/>
            <a:r>
              <a:rPr sz="2700" b="1">
                <a:solidFill>
                  <a:srgbClr val="D8B85A"/>
                </a:solidFill>
                <a:latin typeface="Aptos Display"/>
              </a:rPr>
              <a:t>1. Solution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/>
            <a:r>
              <a:rPr sz="1100" b="0">
                <a:solidFill>
                  <a:srgbClr val="F5F2E9"/>
                </a:solidFill>
                <a:latin typeface="Aptos"/>
              </a:rPr>
              <a:t>End-to-end architecture for the structured staffing-search application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11109960" cy="13716"/>
          </a:xfrm>
          <a:prstGeom prst="rect">
            <a:avLst/>
          </a:prstGeom>
          <a:solidFill>
            <a:srgbClr val="0F7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828800"/>
            <a:ext cx="1554480" cy="685800"/>
          </a:xfrm>
          <a:prstGeom prst="roundRect">
            <a:avLst/>
          </a:prstGeom>
          <a:solidFill>
            <a:srgbClr val="195487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F5F2E9"/>
                </a:solidFill>
                <a:latin typeface="Aptos"/>
              </a:rPr>
              <a:t>Staffing user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06040" y="1645920"/>
            <a:ext cx="1828800" cy="1051560"/>
          </a:xfrm>
          <a:prstGeom prst="roundRect">
            <a:avLst/>
          </a:prstGeom>
          <a:solidFill>
            <a:srgbClr val="0F7E93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5F2E9"/>
                </a:solidFill>
                <a:latin typeface="Aptos"/>
              </a:rPr>
              <a:t>Streamlit UI
app.py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06040" y="3246120"/>
            <a:ext cx="1828800" cy="1051560"/>
          </a:xfrm>
          <a:prstGeom prst="roundRect">
            <a:avLst/>
          </a:prstGeom>
          <a:solidFill>
            <a:srgbClr val="0F7E93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5F2E9"/>
                </a:solidFill>
                <a:latin typeface="Aptos"/>
              </a:rPr>
              <a:t>FastAPI
main.py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2331720"/>
            <a:ext cx="2057400" cy="1097280"/>
          </a:xfrm>
          <a:prstGeom prst="roundRect">
            <a:avLst/>
          </a:prstGeom>
          <a:solidFill>
            <a:srgbClr val="D8B85A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061426"/>
                </a:solidFill>
                <a:latin typeface="Aptos"/>
              </a:rPr>
              <a:t>TechOpsService
Domain layer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0" y="1600200"/>
            <a:ext cx="1920240" cy="868680"/>
          </a:xfrm>
          <a:prstGeom prst="roundRect">
            <a:avLst/>
          </a:prstGeom>
          <a:solidFill>
            <a:srgbClr val="195487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5F2E9"/>
                </a:solidFill>
                <a:latin typeface="Aptos"/>
              </a:rPr>
              <a:t>Prompt parser
Filters + intent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2743200"/>
            <a:ext cx="1920240" cy="868680"/>
          </a:xfrm>
          <a:prstGeom prst="roundRect">
            <a:avLst/>
          </a:prstGeom>
          <a:solidFill>
            <a:srgbClr val="195487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5F2E9"/>
                </a:solidFill>
                <a:latin typeface="Aptos"/>
              </a:rPr>
              <a:t>Matcher + scorer
Exact / partial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0" y="4206240"/>
            <a:ext cx="1920240" cy="868680"/>
          </a:xfrm>
          <a:prstGeom prst="roundRect">
            <a:avLst/>
          </a:prstGeom>
          <a:solidFill>
            <a:srgbClr val="25855B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5F2E9"/>
                </a:solidFill>
                <a:latin typeface="Aptos"/>
              </a:rPr>
              <a:t>TechOps_DataFile.xlsx
14-column source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48840" y="2148840"/>
            <a:ext cx="411480" cy="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148840" y="2697480"/>
            <a:ext cx="411480" cy="1051559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480560" y="2148840"/>
            <a:ext cx="731520" cy="59436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480560" y="3017520"/>
            <a:ext cx="731520" cy="731519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7360920" y="2057400"/>
            <a:ext cx="822959" cy="64008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360920" y="2971800"/>
            <a:ext cx="822959" cy="18288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9189720" y="3611880"/>
            <a:ext cx="0" cy="54864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31520" y="5715000"/>
            <a:ext cx="10789920" cy="41148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ctr"/>
            <a:r>
              <a:rPr sz="1500" b="0">
                <a:solidFill>
                  <a:srgbClr val="F5F2E9"/>
                </a:solidFill>
                <a:latin typeface="Aptos"/>
              </a:rPr>
              <a:t>One domain service keeps UI and API behavior aligned and ensures all recommendations are grounded in the PMO workbook.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/>
            <a:r>
              <a:rPr sz="2700" b="1">
                <a:solidFill>
                  <a:srgbClr val="D8B85A"/>
                </a:solidFill>
                <a:latin typeface="Aptos Display"/>
              </a:rPr>
              <a:t>2. Logical component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/>
            <a:r>
              <a:rPr sz="1100" b="0">
                <a:solidFill>
                  <a:srgbClr val="F5F2E9"/>
                </a:solidFill>
                <a:latin typeface="Aptos"/>
              </a:rPr>
              <a:t>Responsibilities of the application 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11109960" cy="13716"/>
          </a:xfrm>
          <a:prstGeom prst="rect">
            <a:avLst/>
          </a:prstGeom>
          <a:solidFill>
            <a:srgbClr val="0F7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94360" y="1600200"/>
            <a:ext cx="2331720" cy="475488"/>
          </a:xfrm>
          <a:prstGeom prst="roundRect">
            <a:avLst/>
          </a:prstGeom>
          <a:solidFill>
            <a:srgbClr val="195487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F5F2E9"/>
                </a:solidFill>
                <a:latin typeface="Aptos"/>
              </a:rPr>
              <a:t>Presentation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48840"/>
            <a:ext cx="2331720" cy="2423160"/>
          </a:xfrm>
          <a:prstGeom prst="roundRect">
            <a:avLst/>
          </a:prstGeom>
          <a:solidFill>
            <a:srgbClr val="12395B"/>
          </a:solidFill>
          <a:ln>
            <a:solidFill>
              <a:srgbClr val="376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Streamlit UI</a:t>
            </a:r>
          </a:p>
          <a:p>
            <a:pPr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Chat input</a:t>
            </a:r>
          </a:p>
          <a:p>
            <a:pPr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Recent questions</a:t>
            </a:r>
          </a:p>
          <a:p>
            <a:pPr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Metrics</a:t>
            </a:r>
          </a:p>
          <a:p>
            <a:pPr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Exports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990088" y="3337560"/>
            <a:ext cx="420624" cy="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474720" y="1600200"/>
            <a:ext cx="2331720" cy="475488"/>
          </a:xfrm>
          <a:prstGeom prst="roundRect">
            <a:avLst/>
          </a:prstGeom>
          <a:solidFill>
            <a:srgbClr val="0F7E93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F5F2E9"/>
                </a:solidFill>
                <a:latin typeface="Aptos"/>
              </a:rPr>
              <a:t>Service/API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148840"/>
            <a:ext cx="2331720" cy="2423160"/>
          </a:xfrm>
          <a:prstGeom prst="roundRect">
            <a:avLst/>
          </a:prstGeom>
          <a:solidFill>
            <a:srgbClr val="12395B"/>
          </a:solidFill>
          <a:ln>
            <a:solidFill>
              <a:srgbClr val="376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FastAPI endpoints</a:t>
            </a:r>
          </a:p>
          <a:p>
            <a:pPr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TechOpsService</a:t>
            </a:r>
          </a:p>
          <a:p>
            <a:pPr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Schema validation</a:t>
            </a:r>
          </a:p>
          <a:p>
            <a:pPr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Serialization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70448" y="3337560"/>
            <a:ext cx="420624" cy="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355080" y="1600200"/>
            <a:ext cx="2331720" cy="475488"/>
          </a:xfrm>
          <a:prstGeom prst="roundRect">
            <a:avLst/>
          </a:prstGeom>
          <a:solidFill>
            <a:srgbClr val="D8B85A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061426"/>
                </a:solidFill>
                <a:latin typeface="Aptos"/>
              </a:rPr>
              <a:t>Search intelligence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55080" y="2148840"/>
            <a:ext cx="2331720" cy="2423160"/>
          </a:xfrm>
          <a:prstGeom prst="roundRect">
            <a:avLst/>
          </a:prstGeom>
          <a:solidFill>
            <a:srgbClr val="12395B"/>
          </a:solidFill>
          <a:ln>
            <a:solidFill>
              <a:srgbClr val="376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Skill extraction</a:t>
            </a:r>
          </a:p>
          <a:p>
            <a:pPr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CL interpretation</a:t>
            </a:r>
          </a:p>
          <a:p>
            <a:pPr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Date parsing</a:t>
            </a:r>
          </a:p>
          <a:p>
            <a:pPr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Location filters</a:t>
            </a:r>
          </a:p>
          <a:p>
            <a:pPr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Scoring + validation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50808" y="3337560"/>
            <a:ext cx="420624" cy="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235440" y="1600200"/>
            <a:ext cx="2331720" cy="475488"/>
          </a:xfrm>
          <a:prstGeom prst="roundRect">
            <a:avLst/>
          </a:prstGeom>
          <a:solidFill>
            <a:srgbClr val="25855B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F5F2E9"/>
                </a:solidFill>
                <a:latin typeface="Aptos"/>
              </a:rPr>
              <a:t>Data source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2148840"/>
            <a:ext cx="2331720" cy="2423160"/>
          </a:xfrm>
          <a:prstGeom prst="roundRect">
            <a:avLst/>
          </a:prstGeom>
          <a:solidFill>
            <a:srgbClr val="12395B"/>
          </a:solidFill>
          <a:ln>
            <a:solidFill>
              <a:srgbClr val="376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Excel workbook</a:t>
            </a:r>
          </a:p>
          <a:p>
            <a:pPr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Resource identity</a:t>
            </a:r>
          </a:p>
          <a:p>
            <a:pPr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Skills</a:t>
            </a:r>
          </a:p>
          <a:p>
            <a:pPr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Capacity</a:t>
            </a:r>
          </a:p>
          <a:p>
            <a:pPr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Contracts</a:t>
            </a:r>
          </a:p>
          <a:p>
            <a:pPr>
              <a:spcAft>
                <a:spcPts val="800"/>
              </a:spcAft>
              <a:defRPr sz="1300">
                <a:solidFill>
                  <a:srgbClr val="F5F2E9"/>
                </a:solidFill>
                <a:latin typeface="Aptos"/>
              </a:defRPr>
            </a:pPr>
            <a:r>
              <a:t>Organization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166360"/>
            <a:ext cx="10698480" cy="59436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ctr"/>
            <a:r>
              <a:rPr sz="1500" b="0">
                <a:solidFill>
                  <a:srgbClr val="F5F2E9"/>
                </a:solidFill>
                <a:latin typeface="Aptos"/>
              </a:rPr>
              <a:t>Cross-cutting behavior: deterministic filtering, explicit errors for missing schema/file, invalid availability treated as unavailable, no generic staffing answer mode.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/>
            <a:r>
              <a:rPr sz="2700" b="1">
                <a:solidFill>
                  <a:srgbClr val="D8B85A"/>
                </a:solidFill>
                <a:latin typeface="Aptos Display"/>
              </a:rPr>
              <a:t>3. Data and ontology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/>
            <a:r>
              <a:rPr sz="1100" b="0">
                <a:solidFill>
                  <a:srgbClr val="F5F2E9"/>
                </a:solidFill>
                <a:latin typeface="Aptos"/>
              </a:rPr>
              <a:t>Resource-centered model mapped directly to TechOps_DataFile.xlsx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11109960" cy="13716"/>
          </a:xfrm>
          <a:prstGeom prst="rect">
            <a:avLst/>
          </a:prstGeom>
          <a:solidFill>
            <a:srgbClr val="0F7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709160" y="2331720"/>
            <a:ext cx="2743200" cy="1143000"/>
          </a:xfrm>
          <a:prstGeom prst="roundRect">
            <a:avLst/>
          </a:prstGeom>
          <a:solidFill>
            <a:srgbClr val="D8B85A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800" b="1">
                <a:solidFill>
                  <a:srgbClr val="061426"/>
                </a:solidFill>
                <a:latin typeface="Aptos"/>
              </a:rPr>
              <a:t>Resource
EnterpriseId | CL
Availability | RollonDate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417320"/>
            <a:ext cx="2240280" cy="1051560"/>
          </a:xfrm>
          <a:prstGeom prst="roundRect">
            <a:avLst/>
          </a:prstGeom>
          <a:solidFill>
            <a:srgbClr val="195487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F5F2E9"/>
                </a:solidFill>
                <a:latin typeface="Aptos"/>
              </a:rPr>
              <a:t>Skills
Primary Skill
Secondary Skill
Competency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069080"/>
            <a:ext cx="2240280" cy="1051560"/>
          </a:xfrm>
          <a:prstGeom prst="roundRect">
            <a:avLst/>
          </a:prstGeom>
          <a:solidFill>
            <a:srgbClr val="0F7E93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F5F2E9"/>
                </a:solidFill>
                <a:latin typeface="Aptos"/>
              </a:rPr>
              <a:t>Organization
RDT Function
RDT Subfunction
Supervisor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1417320"/>
            <a:ext cx="2240280" cy="1051560"/>
          </a:xfrm>
          <a:prstGeom prst="roundRect">
            <a:avLst/>
          </a:prstGeom>
          <a:solidFill>
            <a:srgbClr val="195487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F5F2E9"/>
                </a:solidFill>
                <a:latin typeface="Aptos"/>
              </a:rPr>
              <a:t>Location
Country | City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61120" y="4069080"/>
            <a:ext cx="2240280" cy="1051560"/>
          </a:xfrm>
          <a:prstGeom prst="roundRect">
            <a:avLst/>
          </a:prstGeom>
          <a:solidFill>
            <a:srgbClr val="25855B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F5F2E9"/>
                </a:solidFill>
                <a:latin typeface="Aptos"/>
              </a:rPr>
              <a:t>Contract
Start Date
End Date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00400" y="1965960"/>
            <a:ext cx="1463040" cy="77724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3200400" y="3063240"/>
            <a:ext cx="1463040" cy="150876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7498079" y="1965960"/>
            <a:ext cx="1417321" cy="77724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498079" y="3063240"/>
            <a:ext cx="1417321" cy="150876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ctr"/>
            <a:r>
              <a:rPr sz="1500" b="0">
                <a:solidFill>
                  <a:srgbClr val="F5F2E9"/>
                </a:solidFill>
                <a:latin typeface="Aptos"/>
              </a:rPr>
              <a:t>Ontology principle: a person is recommended only after combining skills, career level, capacity, contract timing, and geography.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/>
            <a:r>
              <a:rPr sz="2700" b="1">
                <a:solidFill>
                  <a:srgbClr val="D8B85A"/>
                </a:solidFill>
                <a:latin typeface="Aptos Display"/>
              </a:rPr>
              <a:t>4. Search decision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/>
            <a:r>
              <a:rPr sz="1100" b="0">
                <a:solidFill>
                  <a:srgbClr val="F5F2E9"/>
                </a:solidFill>
                <a:latin typeface="Aptos"/>
              </a:rPr>
              <a:t>The rules applied to each natural-language staffing request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11109960" cy="13716"/>
          </a:xfrm>
          <a:prstGeom prst="rect">
            <a:avLst/>
          </a:prstGeom>
          <a:solidFill>
            <a:srgbClr val="0F7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16152" y="1554480"/>
            <a:ext cx="502920" cy="502920"/>
          </a:xfrm>
          <a:prstGeom prst="roundRect">
            <a:avLst/>
          </a:prstGeom>
          <a:solidFill>
            <a:srgbClr val="D8B85A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061426"/>
                </a:solidFill>
                <a:latin typeface="Aptos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1965960" cy="502920"/>
          </a:xfrm>
          <a:prstGeom prst="roundRect">
            <a:avLst/>
          </a:prstGeom>
          <a:solidFill>
            <a:srgbClr val="0F7E93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5F2E9"/>
                </a:solidFill>
                <a:latin typeface="Aptos"/>
              </a:rPr>
              <a:t>Parse prompt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80360"/>
            <a:ext cx="1965960" cy="1508760"/>
          </a:xfrm>
          <a:prstGeom prst="roundRect">
            <a:avLst/>
          </a:prstGeom>
          <a:solidFill>
            <a:srgbClr val="12395B"/>
          </a:solidFill>
          <a:ln>
            <a:solidFill>
              <a:srgbClr val="376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>
              <a:spcAft>
                <a:spcPts val="800"/>
              </a:spcAft>
              <a:defRPr sz="1200">
                <a:solidFill>
                  <a:srgbClr val="F5F2E9"/>
                </a:solidFill>
                <a:latin typeface="Aptos"/>
              </a:defRPr>
            </a:pPr>
            <a:r>
              <a:t>Extract skills, CL, availability, dates, country/city, result limit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496312" y="2487168"/>
            <a:ext cx="274320" cy="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547872" y="1554480"/>
            <a:ext cx="502920" cy="502920"/>
          </a:xfrm>
          <a:prstGeom prst="roundRect">
            <a:avLst/>
          </a:prstGeom>
          <a:solidFill>
            <a:srgbClr val="D8B85A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061426"/>
                </a:solidFill>
                <a:latin typeface="Aptos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34639" y="2240280"/>
            <a:ext cx="1965960" cy="502920"/>
          </a:xfrm>
          <a:prstGeom prst="roundRect">
            <a:avLst/>
          </a:prstGeom>
          <a:solidFill>
            <a:srgbClr val="0F7E93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5F2E9"/>
                </a:solidFill>
                <a:latin typeface="Aptos"/>
              </a:rPr>
              <a:t>Build candidates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34639" y="2880360"/>
            <a:ext cx="1965960" cy="1508760"/>
          </a:xfrm>
          <a:prstGeom prst="roundRect">
            <a:avLst/>
          </a:prstGeom>
          <a:solidFill>
            <a:srgbClr val="12395B"/>
          </a:solidFill>
          <a:ln>
            <a:solidFill>
              <a:srgbClr val="376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>
              <a:spcAft>
                <a:spcPts val="800"/>
              </a:spcAft>
              <a:defRPr sz="1200">
                <a:solidFill>
                  <a:srgbClr val="F5F2E9"/>
                </a:solidFill>
                <a:latin typeface="Aptos"/>
              </a:defRPr>
            </a:pPr>
            <a:r>
              <a:t>Exclude unusable skill rows; match primary OR secondary skills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28031" y="2487168"/>
            <a:ext cx="274321" cy="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879592" y="1554480"/>
            <a:ext cx="502920" cy="502920"/>
          </a:xfrm>
          <a:prstGeom prst="roundRect">
            <a:avLst/>
          </a:prstGeom>
          <a:solidFill>
            <a:srgbClr val="D8B85A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061426"/>
                </a:solidFill>
                <a:latin typeface="Apto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66359" y="2240280"/>
            <a:ext cx="1965960" cy="502920"/>
          </a:xfrm>
          <a:prstGeom prst="roundRect">
            <a:avLst/>
          </a:prstGeom>
          <a:solidFill>
            <a:srgbClr val="0F7E93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5F2E9"/>
                </a:solidFill>
                <a:latin typeface="Aptos"/>
              </a:rPr>
              <a:t>Apply fixed filters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66359" y="2880360"/>
            <a:ext cx="1965960" cy="1508760"/>
          </a:xfrm>
          <a:prstGeom prst="roundRect">
            <a:avLst/>
          </a:prstGeom>
          <a:solidFill>
            <a:srgbClr val="12395B"/>
          </a:solidFill>
          <a:ln>
            <a:solidFill>
              <a:srgbClr val="376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>
              <a:spcAft>
                <a:spcPts val="800"/>
              </a:spcAft>
              <a:defRPr sz="1200">
                <a:solidFill>
                  <a:srgbClr val="F5F2E9"/>
                </a:solidFill>
                <a:latin typeface="Aptos"/>
              </a:defRPr>
            </a:pPr>
            <a:r>
              <a:t>Exact/relative career-level logic; enterprise ID lookup when present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159752" y="2487168"/>
            <a:ext cx="274319" cy="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11311" y="1554480"/>
            <a:ext cx="502920" cy="502920"/>
          </a:xfrm>
          <a:prstGeom prst="roundRect">
            <a:avLst/>
          </a:prstGeom>
          <a:solidFill>
            <a:srgbClr val="D8B85A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061426"/>
                </a:solidFill>
                <a:latin typeface="Aptos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79" y="2240280"/>
            <a:ext cx="1965960" cy="502920"/>
          </a:xfrm>
          <a:prstGeom prst="roundRect">
            <a:avLst/>
          </a:prstGeom>
          <a:solidFill>
            <a:srgbClr val="0F7E93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5F2E9"/>
                </a:solidFill>
                <a:latin typeface="Aptos"/>
              </a:rPr>
              <a:t>Validate availability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98079" y="2880360"/>
            <a:ext cx="1965960" cy="1508760"/>
          </a:xfrm>
          <a:prstGeom prst="roundRect">
            <a:avLst/>
          </a:prstGeom>
          <a:solidFill>
            <a:srgbClr val="12395B"/>
          </a:solidFill>
          <a:ln>
            <a:solidFill>
              <a:srgbClr val="376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>
              <a:spcAft>
                <a:spcPts val="800"/>
              </a:spcAft>
              <a:defRPr sz="1200">
                <a:solidFill>
                  <a:srgbClr val="F5F2E9"/>
                </a:solidFill>
                <a:latin typeface="Aptos"/>
              </a:defRPr>
            </a:pPr>
            <a:r>
              <a:t>Current: Availability &gt; 0 AND ContractEndDate &lt;= today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491472" y="2487168"/>
            <a:ext cx="274320" cy="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10543032" y="1554480"/>
            <a:ext cx="502920" cy="502920"/>
          </a:xfrm>
          <a:prstGeom prst="roundRect">
            <a:avLst/>
          </a:prstGeom>
          <a:solidFill>
            <a:srgbClr val="D8B85A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700" b="1">
                <a:solidFill>
                  <a:srgbClr val="061426"/>
                </a:solidFill>
                <a:latin typeface="Apto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9800" y="2240280"/>
            <a:ext cx="1965960" cy="502920"/>
          </a:xfrm>
          <a:prstGeom prst="roundRect">
            <a:avLst/>
          </a:prstGeom>
          <a:solidFill>
            <a:srgbClr val="0F7E93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400" b="1">
                <a:solidFill>
                  <a:srgbClr val="F5F2E9"/>
                </a:solidFill>
                <a:latin typeface="Aptos"/>
              </a:rPr>
              <a:t>Score + classify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29800" y="2880360"/>
            <a:ext cx="1965960" cy="1508760"/>
          </a:xfrm>
          <a:prstGeom prst="roundRect">
            <a:avLst/>
          </a:prstGeom>
          <a:solidFill>
            <a:srgbClr val="12395B"/>
          </a:solidFill>
          <a:ln>
            <a:solidFill>
              <a:srgbClr val="376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>
              <a:spcAft>
                <a:spcPts val="800"/>
              </a:spcAft>
              <a:defRPr sz="1200">
                <a:solidFill>
                  <a:srgbClr val="F5F2E9"/>
                </a:solidFill>
                <a:latin typeface="Aptos"/>
              </a:defRPr>
            </a:pPr>
            <a:r>
              <a:t>Exact results first; otherwise ranked partial results + message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97280" y="5074920"/>
            <a:ext cx="9966960" cy="685800"/>
          </a:xfrm>
          <a:prstGeom prst="roundRect">
            <a:avLst/>
          </a:prstGeom>
          <a:solidFill>
            <a:srgbClr val="B13E3E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F5F2E9"/>
                </a:solidFill>
                <a:latin typeface="Aptos"/>
              </a:rPr>
              <a:t>Future availability is separate: ?available after December 2026? evaluates the contract end-date boundary rather than current capacity.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/>
            <a:r>
              <a:rPr sz="2700" b="1">
                <a:solidFill>
                  <a:srgbClr val="D8B85A"/>
                </a:solidFill>
                <a:latin typeface="Aptos Display"/>
              </a:rPr>
              <a:t>5. Interfaces and operational behavior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/>
            <a:r>
              <a:rPr sz="1100" b="0">
                <a:solidFill>
                  <a:srgbClr val="F5F2E9"/>
                </a:solidFill>
                <a:latin typeface="Aptos"/>
              </a:rPr>
              <a:t>How users and downstream clients consume the solution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11109960" cy="13716"/>
          </a:xfrm>
          <a:prstGeom prst="rect">
            <a:avLst/>
          </a:prstGeom>
          <a:solidFill>
            <a:srgbClr val="0F7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600200"/>
            <a:ext cx="2514600" cy="822960"/>
          </a:xfrm>
          <a:prstGeom prst="roundRect">
            <a:avLst/>
          </a:prstGeom>
          <a:solidFill>
            <a:srgbClr val="0F7E93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5F2E9"/>
                </a:solidFill>
                <a:latin typeface="Aptos"/>
              </a:rPr>
              <a:t>Streamlit
http://localhost:8501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00600" y="1600200"/>
            <a:ext cx="2514600" cy="822960"/>
          </a:xfrm>
          <a:prstGeom prst="roundRect">
            <a:avLst/>
          </a:prstGeom>
          <a:solidFill>
            <a:srgbClr val="195487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600" b="1">
                <a:solidFill>
                  <a:srgbClr val="F5F2E9"/>
                </a:solidFill>
                <a:latin typeface="Aptos"/>
              </a:rPr>
              <a:t>POST /resources/search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15400" y="1600200"/>
            <a:ext cx="2514600" cy="822960"/>
          </a:xfrm>
          <a:prstGeom prst="roundRect">
            <a:avLst/>
          </a:prstGeom>
          <a:solidFill>
            <a:srgbClr val="195487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54864" bIns="54864"/>
          <a:lstStyle/>
          <a:p>
            <a:pPr algn="ctr"/>
            <a:r>
              <a:rPr sz="1500" b="1">
                <a:solidFill>
                  <a:srgbClr val="F5F2E9"/>
                </a:solidFill>
                <a:latin typeface="Aptos"/>
              </a:rPr>
              <a:t>GET /resources
GET /resources/columns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46120" y="2011680"/>
            <a:ext cx="1463040" cy="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360920" y="2011680"/>
            <a:ext cx="1463040" cy="0"/>
          </a:xfrm>
          <a:prstGeom prst="line">
            <a:avLst/>
          </a:prstGeom>
          <a:ln w="2794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85800" y="2971800"/>
            <a:ext cx="4800600" cy="2057400"/>
          </a:xfrm>
          <a:prstGeom prst="roundRect">
            <a:avLst/>
          </a:prstGeom>
          <a:solidFill>
            <a:srgbClr val="12395B"/>
          </a:solidFill>
          <a:ln>
            <a:solidFill>
              <a:srgbClr val="376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>
              <a:spcAft>
                <a:spcPts val="800"/>
              </a:spcAft>
              <a:defRPr sz="1400">
                <a:solidFill>
                  <a:srgbClr val="F5F2E9"/>
                </a:solidFill>
                <a:latin typeface="Aptos"/>
              </a:defRPr>
            </a:pPr>
            <a:r>
              <a:t>Chat-style staffing search grounded in workbook data</a:t>
            </a:r>
          </a:p>
          <a:p>
            <a:pPr>
              <a:spcAft>
                <a:spcPts val="800"/>
              </a:spcAft>
              <a:defRPr sz="1400">
                <a:solidFill>
                  <a:srgbClr val="F5F2E9"/>
                </a:solidFill>
                <a:latin typeface="Aptos"/>
              </a:defRPr>
            </a:pPr>
            <a:r>
              <a:t>Ranked table with MatchScore and MatchedFields</a:t>
            </a:r>
          </a:p>
          <a:p>
            <a:pPr>
              <a:spcAft>
                <a:spcPts val="800"/>
              </a:spcAft>
              <a:defRPr sz="1400">
                <a:solidFill>
                  <a:srgbClr val="F5F2E9"/>
                </a:solidFill>
                <a:latin typeface="Aptos"/>
              </a:defRPr>
            </a:pPr>
            <a:r>
              <a:t>CSV and Excel downloads</a:t>
            </a:r>
          </a:p>
          <a:p>
            <a:pPr>
              <a:spcAft>
                <a:spcPts val="800"/>
              </a:spcAft>
              <a:defRPr sz="1400">
                <a:solidFill>
                  <a:srgbClr val="F5F2E9"/>
                </a:solidFill>
                <a:latin typeface="Aptos"/>
              </a:defRPr>
            </a:pPr>
            <a:r>
              <a:t>Recent-question history and source file timestamp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2971800"/>
            <a:ext cx="4800600" cy="2057400"/>
          </a:xfrm>
          <a:prstGeom prst="roundRect">
            <a:avLst/>
          </a:prstGeom>
          <a:solidFill>
            <a:srgbClr val="12395B"/>
          </a:solidFill>
          <a:ln>
            <a:solidFill>
              <a:srgbClr val="376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>
              <a:spcAft>
                <a:spcPts val="800"/>
              </a:spcAft>
              <a:defRPr sz="1400">
                <a:solidFill>
                  <a:srgbClr val="F5F2E9"/>
                </a:solidFill>
                <a:latin typeface="Aptos"/>
              </a:defRPr>
            </a:pPr>
            <a:r>
              <a:t>JSON structured results for integrations</a:t>
            </a:r>
          </a:p>
          <a:p>
            <a:pPr>
              <a:spcAft>
                <a:spcPts val="800"/>
              </a:spcAft>
              <a:defRPr sz="1400">
                <a:solidFill>
                  <a:srgbClr val="F5F2E9"/>
                </a:solidFill>
                <a:latin typeface="Aptos"/>
              </a:defRPr>
            </a:pPr>
            <a:r>
              <a:t>Optional skill, CL, country, city, availability, limit filters</a:t>
            </a:r>
          </a:p>
          <a:p>
            <a:pPr>
              <a:spcAft>
                <a:spcPts val="800"/>
              </a:spcAft>
              <a:defRPr sz="1400">
                <a:solidFill>
                  <a:srgbClr val="F5F2E9"/>
                </a:solidFill>
                <a:latin typeface="Aptos"/>
              </a:defRPr>
            </a:pPr>
            <a:r>
              <a:t>Schema discoverability through /resources/columns</a:t>
            </a:r>
          </a:p>
          <a:p>
            <a:pPr>
              <a:spcAft>
                <a:spcPts val="800"/>
              </a:spcAft>
              <a:defRPr sz="1400">
                <a:solidFill>
                  <a:srgbClr val="F5F2E9"/>
                </a:solidFill>
                <a:latin typeface="Aptos"/>
              </a:defRPr>
            </a:pPr>
            <a:r>
              <a:t>Explicit ?Expected resource not available in TechOps?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789920" cy="384048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ctr"/>
            <a:r>
              <a:rPr sz="1400" b="0">
                <a:solidFill>
                  <a:srgbClr val="F5F2E9"/>
                </a:solidFill>
                <a:latin typeface="Aptos"/>
              </a:rPr>
              <a:t>Deployment model: Python runtime + pandas/openpyxl + Streamlit/FastAPI, with the Excel workbook as the operational source of truth.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14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50292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/>
            <a:r>
              <a:rPr sz="2700" b="1">
                <a:solidFill>
                  <a:srgbClr val="D8B85A"/>
                </a:solidFill>
                <a:latin typeface="Aptos Display"/>
              </a:rPr>
              <a:t>6. Key design decisions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881360" cy="32004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l"/>
            <a:r>
              <a:rPr sz="1100" b="0">
                <a:solidFill>
                  <a:srgbClr val="F5F2E9"/>
                </a:solidFill>
                <a:latin typeface="Aptos"/>
              </a:rPr>
              <a:t>Current safeguards and extensibility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11109960" cy="13716"/>
          </a:xfrm>
          <a:prstGeom prst="rect">
            <a:avLst/>
          </a:prstGeom>
          <a:solidFill>
            <a:srgbClr val="0F7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57800" cy="4160520"/>
          </a:xfrm>
          <a:prstGeom prst="roundRect">
            <a:avLst/>
          </a:prstGeom>
          <a:solidFill>
            <a:srgbClr val="12395B"/>
          </a:solidFill>
          <a:ln>
            <a:solidFill>
              <a:srgbClr val="376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>
              <a:spcAft>
                <a:spcPts val="800"/>
              </a:spcAft>
              <a:defRPr sz="1500">
                <a:solidFill>
                  <a:srgbClr val="F5F2E9"/>
                </a:solidFill>
                <a:latin typeface="Aptos"/>
              </a:defRPr>
            </a:pPr>
            <a:r>
              <a:t>Structured-only staffing recommendations; no generic GenAI staffing mode</a:t>
            </a:r>
          </a:p>
          <a:p>
            <a:pPr>
              <a:spcAft>
                <a:spcPts val="800"/>
              </a:spcAft>
              <a:defRPr sz="1500">
                <a:solidFill>
                  <a:srgbClr val="F5F2E9"/>
                </a:solidFill>
                <a:latin typeface="Aptos"/>
              </a:defRPr>
            </a:pPr>
            <a:r>
              <a:t>Primary/secondary skill matching is the authoritative skill source</a:t>
            </a:r>
          </a:p>
          <a:p>
            <a:pPr>
              <a:spcAft>
                <a:spcPts val="800"/>
              </a:spcAft>
              <a:defRPr sz="1500">
                <a:solidFill>
                  <a:srgbClr val="F5F2E9"/>
                </a:solidFill>
                <a:latin typeface="Aptos"/>
              </a:defRPr>
            </a:pPr>
            <a:r>
              <a:t>Career level remains a fixed requirement for partial multi-skill results</a:t>
            </a:r>
          </a:p>
          <a:p>
            <a:pPr>
              <a:spcAft>
                <a:spcPts val="800"/>
              </a:spcAft>
              <a:defRPr sz="1500">
                <a:solidFill>
                  <a:srgbClr val="F5F2E9"/>
                </a:solidFill>
                <a:latin typeface="Aptos"/>
              </a:defRPr>
            </a:pPr>
            <a:r>
              <a:t>Current availability requires positive capacity and an ended contract</a:t>
            </a:r>
          </a:p>
          <a:p>
            <a:pPr>
              <a:spcAft>
                <a:spcPts val="800"/>
              </a:spcAft>
              <a:defRPr sz="1500">
                <a:solidFill>
                  <a:srgbClr val="F5F2E9"/>
                </a:solidFill>
                <a:latin typeface="Aptos"/>
              </a:defRPr>
            </a:pPr>
            <a:r>
              <a:t>Future contract availability is evaluated independently from current capacity</a:t>
            </a:r>
          </a:p>
          <a:p>
            <a:pPr>
              <a:spcAft>
                <a:spcPts val="800"/>
              </a:spcAft>
              <a:defRPr sz="1500">
                <a:solidFill>
                  <a:srgbClr val="F5F2E9"/>
                </a:solidFill>
                <a:latin typeface="Aptos"/>
              </a:defRPr>
            </a:pPr>
            <a:r>
              <a:t>All results retain original PMO fields for traceability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508760"/>
            <a:ext cx="5212080" cy="4160520"/>
          </a:xfrm>
          <a:prstGeom prst="roundRect">
            <a:avLst/>
          </a:prstGeom>
          <a:solidFill>
            <a:srgbClr val="0F5463"/>
          </a:solidFill>
          <a:ln>
            <a:solidFill>
              <a:srgbClr val="3767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09728" tIns="109728"/>
          <a:lstStyle/>
          <a:p>
            <a:pPr algn="ctr">
              <a:spcAft>
                <a:spcPts val="800"/>
              </a:spcAft>
              <a:defRPr sz="1500">
                <a:solidFill>
                  <a:srgbClr val="F5F2E9"/>
                </a:solidFill>
                <a:latin typeface="Aptos"/>
              </a:defRPr>
            </a:pPr>
            <a:r>
              <a:t>Introduce canonical skill IDs and alias vocabulary</a:t>
            </a:r>
          </a:p>
          <a:p>
            <a:pPr>
              <a:spcAft>
                <a:spcPts val="800"/>
              </a:spcAft>
              <a:defRPr sz="1500">
                <a:solidFill>
                  <a:srgbClr val="F5F2E9"/>
                </a:solidFill>
                <a:latin typeface="Aptos"/>
              </a:defRPr>
            </a:pPr>
            <a:r>
              <a:t>Add explicit availability windows and assignment events</a:t>
            </a:r>
          </a:p>
          <a:p>
            <a:pPr>
              <a:spcAft>
                <a:spcPts val="800"/>
              </a:spcAft>
              <a:defRPr sz="1500">
                <a:solidFill>
                  <a:srgbClr val="F5F2E9"/>
                </a:solidFill>
                <a:latin typeface="Aptos"/>
              </a:defRPr>
            </a:pPr>
            <a:r>
              <a:t>Persist parsed requests and match explanations for auditability</a:t>
            </a:r>
          </a:p>
          <a:p>
            <a:pPr>
              <a:spcAft>
                <a:spcPts val="800"/>
              </a:spcAft>
              <a:defRPr sz="1500">
                <a:solidFill>
                  <a:srgbClr val="F5F2E9"/>
                </a:solidFill>
                <a:latin typeface="Aptos"/>
              </a:defRPr>
            </a:pPr>
            <a:r>
              <a:t>Add automated data-quality reports for dates, CL, IDs, and skills</a:t>
            </a:r>
          </a:p>
          <a:p>
            <a:pPr>
              <a:spcAft>
                <a:spcPts val="800"/>
              </a:spcAft>
              <a:defRPr sz="1500">
                <a:solidFill>
                  <a:srgbClr val="F5F2E9"/>
                </a:solidFill>
                <a:latin typeface="Aptos"/>
              </a:defRPr>
            </a:pPr>
            <a:r>
              <a:t>Move from denormalized workbook fields toward a governed resource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989320"/>
            <a:ext cx="10698480" cy="365760"/>
          </a:xfrm>
          <a:prstGeom prst="rect">
            <a:avLst/>
          </a:prstGeom>
          <a:noFill/>
        </p:spPr>
        <p:txBody>
          <a:bodyPr wrap="square" lIns="54864" rIns="54864">
            <a:spAutoFit/>
          </a:bodyPr>
          <a:lstStyle/>
          <a:p>
            <a:pPr algn="ctr"/>
            <a:r>
              <a:rPr sz="1600" b="1">
                <a:solidFill>
                  <a:srgbClr val="D8B85A"/>
                </a:solidFill>
                <a:latin typeface="Aptos"/>
              </a:rPr>
              <a:t>Outcome: a transparent, explainable staffing assistant that converts demand language into deterministic resource recommendations.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164592"/>
            <a:ext cx="6400800" cy="47548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2900" b="1">
                <a:solidFill>
                  <a:srgbClr val="081D37"/>
                </a:solidFill>
                <a:latin typeface="Aptos"/>
              </a:rPr>
              <a:t>Technical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58952"/>
            <a:ext cx="1234440" cy="45720"/>
          </a:xfrm>
          <a:prstGeom prst="rect">
            <a:avLst/>
          </a:prstGeom>
          <a:solidFill>
            <a:srgbClr val="EF9C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75488" y="896112"/>
            <a:ext cx="7772400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1000" b="0">
                <a:solidFill>
                  <a:srgbClr val="232F3C"/>
                </a:solidFill>
                <a:latin typeface="Aptos"/>
              </a:rPr>
              <a:t>Current Python solution - Streamlit UI, FastAPI services and workbook-grounded 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234440"/>
            <a:ext cx="11292840" cy="3977639"/>
          </a:xfrm>
          <a:prstGeom prst="rect">
            <a:avLst/>
          </a:prstGeom>
          <a:solidFill>
            <a:srgbClr val="FFFFFF"/>
          </a:solidFill>
          <a:ln w="13970">
            <a:solidFill>
              <a:srgbClr val="5E6D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344168"/>
            <a:ext cx="10698480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1100" b="1">
                <a:solidFill>
                  <a:srgbClr val="232F3C"/>
                </a:solidFill>
                <a:latin typeface="Aptos"/>
              </a:rPr>
              <a:t>Structured staffing search flow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2423160"/>
            <a:ext cx="82296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081D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100" b="1">
                <a:solidFill>
                  <a:srgbClr val="081D37"/>
                </a:solidFill>
                <a:latin typeface="Aptos"/>
              </a:rPr>
              <a:t>User
Question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83080" y="2103120"/>
            <a:ext cx="1627632" cy="1234440"/>
          </a:xfrm>
          <a:prstGeom prst="roundRect">
            <a:avLst/>
          </a:prstGeom>
          <a:solidFill>
            <a:srgbClr val="FFECF6"/>
          </a:solidFill>
          <a:ln w="15240">
            <a:solidFill>
              <a:srgbClr val="EF5B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200" b="1">
                <a:solidFill>
                  <a:srgbClr val="081D37"/>
                </a:solidFill>
                <a:latin typeface="Aptos"/>
              </a:rPr>
              <a:t>STREAMLIT UI
Chat + dashboard
History + exports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99616" y="2752344"/>
            <a:ext cx="256032" cy="0"/>
          </a:xfrm>
          <a:prstGeom prst="line">
            <a:avLst/>
          </a:prstGeom>
          <a:ln w="19050">
            <a:solidFill>
              <a:srgbClr val="081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703320" y="1664208"/>
            <a:ext cx="3246120" cy="3063240"/>
          </a:xfrm>
          <a:prstGeom prst="roundRect">
            <a:avLst/>
          </a:prstGeom>
          <a:solidFill>
            <a:srgbClr val="EBF5FD"/>
          </a:solidFill>
          <a:ln w="13970">
            <a:solidFill>
              <a:srgbClr val="318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76472" y="1728216"/>
            <a:ext cx="3099815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1100" b="1">
                <a:solidFill>
                  <a:srgbClr val="3189CD"/>
                </a:solidFill>
                <a:latin typeface="Aptos"/>
              </a:rPr>
              <a:t>PYTHON / FASTAPI BACKEND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13632" y="1965960"/>
            <a:ext cx="1325880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18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000" b="1">
                <a:solidFill>
                  <a:srgbClr val="081D37"/>
                </a:solidFill>
                <a:latin typeface="Aptos"/>
              </a:rPr>
              <a:t>Request handling
POST /resources/search
GET /resources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22392" y="1965960"/>
            <a:ext cx="1261872" cy="77724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18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000" b="1">
                <a:solidFill>
                  <a:srgbClr val="081D37"/>
                </a:solidFill>
                <a:latin typeface="Aptos"/>
              </a:rPr>
              <a:t>TechOpsService
Schema validation
Resource loading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257800" y="2359152"/>
            <a:ext cx="137160" cy="0"/>
          </a:xfrm>
          <a:prstGeom prst="line">
            <a:avLst/>
          </a:prstGeom>
          <a:ln w="15240">
            <a:solidFill>
              <a:srgbClr val="3189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13632" y="3090672"/>
            <a:ext cx="1325880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B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000" b="1">
                <a:solidFill>
                  <a:srgbClr val="081D37"/>
                </a:solidFill>
                <a:latin typeface="Aptos"/>
              </a:rPr>
              <a:t>Prompt parser
Skills | CL | dates
location | availability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22392" y="3090672"/>
            <a:ext cx="1261872" cy="9144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2E8B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000" b="1">
                <a:solidFill>
                  <a:srgbClr val="081D37"/>
                </a:solidFill>
                <a:latin typeface="Aptos"/>
              </a:rPr>
              <a:t>Matching + scoring
Exact / partial
validation message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57800" y="3547872"/>
            <a:ext cx="137160" cy="0"/>
          </a:xfrm>
          <a:prstGeom prst="line">
            <a:avLst/>
          </a:prstGeom>
          <a:ln w="15240">
            <a:solidFill>
              <a:srgbClr val="2E8B9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438144" y="2743200"/>
            <a:ext cx="237743" cy="0"/>
          </a:xfrm>
          <a:prstGeom prst="line">
            <a:avLst/>
          </a:prstGeom>
          <a:ln w="19050">
            <a:solidFill>
              <a:srgbClr val="3189C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296912" y="1664208"/>
            <a:ext cx="4050791" cy="1417320"/>
          </a:xfrm>
          <a:prstGeom prst="roundRect">
            <a:avLst/>
          </a:prstGeom>
          <a:solidFill>
            <a:srgbClr val="EDF9EF"/>
          </a:solidFill>
          <a:ln w="13970">
            <a:solidFill>
              <a:srgbClr val="49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70064" y="1728216"/>
            <a:ext cx="3904487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1100" b="1">
                <a:solidFill>
                  <a:srgbClr val="49A366"/>
                </a:solidFill>
                <a:latin typeface="Aptos"/>
              </a:rPr>
              <a:t>RESOURCE SEARCH MODE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2084831"/>
            <a:ext cx="1234440" cy="594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9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000" b="1">
                <a:solidFill>
                  <a:srgbClr val="081D37"/>
                </a:solidFill>
                <a:latin typeface="Aptos"/>
              </a:rPr>
              <a:t>Excel workbook
360 TechOps resources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62288" y="2084831"/>
            <a:ext cx="1783080" cy="59436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49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000" b="1">
                <a:solidFill>
                  <a:srgbClr val="081D37"/>
                </a:solidFill>
                <a:latin typeface="Aptos"/>
              </a:rPr>
              <a:t>Structured result
MatchScore + fields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14816" y="2377440"/>
            <a:ext cx="310896" cy="0"/>
          </a:xfrm>
          <a:prstGeom prst="line">
            <a:avLst/>
          </a:prstGeom>
          <a:ln w="15240">
            <a:solidFill>
              <a:srgbClr val="49A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6967728" y="2487168"/>
            <a:ext cx="512064" cy="347472"/>
          </a:xfrm>
          <a:prstGeom prst="line">
            <a:avLst/>
          </a:prstGeom>
          <a:ln w="15240">
            <a:solidFill>
              <a:srgbClr val="49A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296912" y="3337560"/>
            <a:ext cx="4050791" cy="1389888"/>
          </a:xfrm>
          <a:prstGeom prst="roundRect">
            <a:avLst/>
          </a:prstGeom>
          <a:solidFill>
            <a:srgbClr val="FFF7E2"/>
          </a:solidFill>
          <a:ln w="13970">
            <a:solidFill>
              <a:srgbClr val="EF9C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70064" y="3401568"/>
            <a:ext cx="3904487" cy="228600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ctr"/>
            <a:r>
              <a:rPr sz="1100" b="1">
                <a:solidFill>
                  <a:srgbClr val="EF9C2F"/>
                </a:solidFill>
                <a:latin typeface="Aptos"/>
              </a:rPr>
              <a:t>BUSINESS RULES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571231" y="3703320"/>
            <a:ext cx="3502152" cy="78638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F9C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000" b="0">
                <a:solidFill>
                  <a:srgbClr val="081D37"/>
                </a:solidFill>
                <a:latin typeface="Aptos"/>
              </a:rPr>
              <a:t>Skill: Primary OR Secondary
CL: exact / hierarchy
Current: Availability &gt; 0 + contract ended
Future: contract end-date boundary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14816" y="2724912"/>
            <a:ext cx="0" cy="585216"/>
          </a:xfrm>
          <a:prstGeom prst="line">
            <a:avLst/>
          </a:prstGeom>
          <a:ln w="12700">
            <a:solidFill>
              <a:srgbClr val="49A3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67728" y="3703320"/>
            <a:ext cx="512064" cy="521208"/>
          </a:xfrm>
          <a:prstGeom prst="line">
            <a:avLst/>
          </a:prstGeom>
          <a:ln w="15240">
            <a:solidFill>
              <a:srgbClr val="EF9C2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3456432" y="3246120"/>
            <a:ext cx="3858768" cy="1252728"/>
          </a:xfrm>
          <a:prstGeom prst="line">
            <a:avLst/>
          </a:prstGeom>
          <a:ln w="15240">
            <a:solidFill>
              <a:srgbClr val="081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1828800" y="3886200"/>
            <a:ext cx="1600200" cy="640080"/>
          </a:xfrm>
          <a:prstGeom prst="roundRect">
            <a:avLst/>
          </a:prstGeom>
          <a:solidFill>
            <a:srgbClr val="EFFAFF"/>
          </a:solidFill>
          <a:ln w="15240">
            <a:solidFill>
              <a:srgbClr val="318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000" b="1">
                <a:solidFill>
                  <a:srgbClr val="081D37"/>
                </a:solidFill>
                <a:latin typeface="Aptos"/>
              </a:rPr>
              <a:t>Ranked table
CSV / Excel download</a:t>
            </a:r>
          </a:p>
        </p:txBody>
      </p:sp>
      <p:cxnSp>
        <p:nvCxnSpPr>
          <p:cNvPr id="32" name="Connector 31"/>
          <p:cNvCxnSpPr/>
          <p:nvPr/>
        </p:nvCxnSpPr>
        <p:spPr>
          <a:xfrm flipH="1" flipV="1">
            <a:off x="1536192" y="3154680"/>
            <a:ext cx="246888" cy="1051560"/>
          </a:xfrm>
          <a:prstGeom prst="line">
            <a:avLst/>
          </a:prstGeom>
          <a:ln w="15240">
            <a:solidFill>
              <a:srgbClr val="081D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66928" y="5440680"/>
            <a:ext cx="1828800" cy="20116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1000" b="1">
                <a:solidFill>
                  <a:srgbClr val="3189CD"/>
                </a:solidFill>
                <a:latin typeface="Aptos"/>
              </a:rPr>
              <a:t>DATA SOURCE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5650992"/>
            <a:ext cx="5074920" cy="65836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18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1000" b="0">
                <a:solidFill>
                  <a:srgbClr val="081D37"/>
                </a:solidFill>
                <a:latin typeface="Aptos"/>
              </a:rPr>
              <a:t>TechOps_DataFile.xlsx
EnterpriseId | CL | Skills | Availability
Country/City | ContractStartDate | ContractEndDate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440680"/>
            <a:ext cx="2103120" cy="201168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1000" b="1">
                <a:solidFill>
                  <a:srgbClr val="49A366"/>
                </a:solidFill>
                <a:latin typeface="Aptos"/>
              </a:rPr>
              <a:t>TECHNOLOGY STACK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400800" y="5650992"/>
            <a:ext cx="1353312" cy="265176"/>
          </a:xfrm>
          <a:prstGeom prst="roundRect">
            <a:avLst/>
          </a:prstGeom>
          <a:solidFill>
            <a:srgbClr val="3189CD"/>
          </a:solidFill>
          <a:ln w="15240">
            <a:solidFill>
              <a:srgbClr val="3189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Python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001000" y="5650992"/>
            <a:ext cx="1353312" cy="265176"/>
          </a:xfrm>
          <a:prstGeom prst="roundRect">
            <a:avLst/>
          </a:prstGeom>
          <a:solidFill>
            <a:srgbClr val="DD5757"/>
          </a:solidFill>
          <a:ln w="15240">
            <a:solidFill>
              <a:srgbClr val="DD57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Streamlit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601200" y="5650992"/>
            <a:ext cx="1353312" cy="265176"/>
          </a:xfrm>
          <a:prstGeom prst="roundRect">
            <a:avLst/>
          </a:prstGeom>
          <a:solidFill>
            <a:srgbClr val="2E8B93"/>
          </a:solidFill>
          <a:ln w="15240">
            <a:solidFill>
              <a:srgbClr val="2E8B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FastAPI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0" y="6044183"/>
            <a:ext cx="1353312" cy="265176"/>
          </a:xfrm>
          <a:prstGeom prst="roundRect">
            <a:avLst/>
          </a:prstGeom>
          <a:solidFill>
            <a:srgbClr val="915DBE"/>
          </a:solidFill>
          <a:ln w="15240">
            <a:solidFill>
              <a:srgbClr val="915D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Pandas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01000" y="6044183"/>
            <a:ext cx="1353312" cy="265176"/>
          </a:xfrm>
          <a:prstGeom prst="roundRect">
            <a:avLst/>
          </a:prstGeom>
          <a:solidFill>
            <a:srgbClr val="49A366"/>
          </a:solidFill>
          <a:ln w="15240">
            <a:solidFill>
              <a:srgbClr val="49A3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/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OpenPyXL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6355080"/>
            <a:ext cx="5212080" cy="23774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900" b="0">
                <a:solidFill>
                  <a:srgbClr val="232F3C"/>
                </a:solidFill>
                <a:latin typeface="Aptos"/>
              </a:rPr>
              <a:t>Architecture note: the legacy ASP.NET MVC frontend is replaced by Streamlit; recommendation logic remains deterministic and workbook-grounded.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647688"/>
            <a:ext cx="7315200" cy="146304"/>
          </a:xfrm>
          <a:prstGeom prst="rect">
            <a:avLst/>
          </a:prstGeom>
          <a:noFill/>
        </p:spPr>
        <p:txBody>
          <a:bodyPr wrap="square" lIns="27432" rIns="27432">
            <a:spAutoFit/>
          </a:bodyPr>
          <a:lstStyle/>
          <a:p>
            <a:pPr algn="l"/>
            <a:r>
              <a:rPr sz="800" b="0">
                <a:solidFill>
                  <a:srgbClr val="6E6E6E"/>
                </a:solidFill>
                <a:latin typeface="Aptos"/>
              </a:rPr>
              <a:t>PM Assistant | Technical Architecture | 15 September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92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1556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500" b="1">
                <a:solidFill>
                  <a:srgbClr val="D8B85A"/>
                </a:solidFill>
                <a:latin typeface="Aptos"/>
              </a:rPr>
              <a:t>Technical Architecture | Current 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713232"/>
            <a:ext cx="109728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C2D3DE"/>
                </a:solidFill>
                <a:latin typeface="Aptos"/>
              </a:rPr>
              <a:t>Two-mode deterministic staffing assistant using the TechOps workbook as the source of truth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372600" y="256032"/>
            <a:ext cx="822960" cy="310896"/>
          </a:xfrm>
          <a:prstGeom prst="roundRect">
            <a:avLst/>
          </a:prstGeom>
          <a:solidFill>
            <a:srgbClr val="1652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72600" y="256032"/>
            <a:ext cx="822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5F2E9"/>
                </a:solidFill>
                <a:latin typeface="Aptos"/>
              </a:rPr>
              <a:t>PYTHON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259568" y="256032"/>
            <a:ext cx="822960" cy="310896"/>
          </a:xfrm>
          <a:prstGeom prst="roundRect">
            <a:avLst/>
          </a:prstGeom>
          <a:solidFill>
            <a:srgbClr val="0F7E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59568" y="256032"/>
            <a:ext cx="822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5F2E9"/>
                </a:solidFill>
                <a:latin typeface="Aptos"/>
              </a:rPr>
              <a:t>STREAMLIT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292840" y="256032"/>
            <a:ext cx="822960" cy="310896"/>
          </a:xfrm>
          <a:prstGeom prst="roundRect">
            <a:avLst/>
          </a:prstGeom>
          <a:solidFill>
            <a:srgbClr val="3791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92840" y="256032"/>
            <a:ext cx="822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F5F2E9"/>
                </a:solidFill>
                <a:latin typeface="Aptos"/>
              </a:rPr>
              <a:t>FASTAPI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25880"/>
            <a:ext cx="2057400" cy="1874519"/>
          </a:xfrm>
          <a:prstGeom prst="roundRect">
            <a:avLst/>
          </a:prstGeom>
          <a:solidFill>
            <a:srgbClr val="0E385A"/>
          </a:solidFill>
          <a:ln w="12700"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0936" y="1417320"/>
            <a:ext cx="180136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D8B85A"/>
                </a:solidFill>
                <a:latin typeface="Aptos"/>
              </a:rPr>
              <a:t>1 | USER EXPERIENCE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" y="1764792"/>
            <a:ext cx="1801368" cy="13441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5F2E9"/>
                </a:solidFill>
                <a:latin typeface="Aptos"/>
              </a:rPr>
              <a:t>Staffing user
Natural-language prompt
Chat history
Metrics and downloads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1325880"/>
            <a:ext cx="2240280" cy="1874519"/>
          </a:xfrm>
          <a:prstGeom prst="roundRect">
            <a:avLst/>
          </a:prstGeom>
          <a:solidFill>
            <a:srgbClr val="114869"/>
          </a:solidFill>
          <a:ln w="12700"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99816" y="1417320"/>
            <a:ext cx="198424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D8B85A"/>
                </a:solidFill>
                <a:latin typeface="Aptos"/>
              </a:rPr>
              <a:t>2 | STREAMLIT 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9816" y="1764792"/>
            <a:ext cx="1984248" cy="13441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5F2E9"/>
                </a:solidFill>
                <a:latin typeface="Aptos"/>
              </a:rPr>
              <a:t>app.py
Chat input and intent display
Requested-role table
Matching-resource table
CSV / Excel export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1325880"/>
            <a:ext cx="2331720" cy="1874519"/>
          </a:xfrm>
          <a:prstGeom prst="roundRect">
            <a:avLst/>
          </a:prstGeom>
          <a:solidFill>
            <a:srgbClr val="125B71"/>
          </a:solidFill>
          <a:ln w="12700"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51576" y="1417320"/>
            <a:ext cx="2075687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D8B85A"/>
                </a:solidFill>
                <a:latin typeface="Aptos"/>
              </a:rPr>
              <a:t>3 | API + SERVICE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51576" y="1764792"/>
            <a:ext cx="2075687" cy="13441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5F2E9"/>
                </a:solidFill>
                <a:latin typeface="Aptos"/>
              </a:rPr>
              <a:t>main.py / FastAPI
POST /resources/analyze
TechOpsService.py
Schema validation
JSON-safe results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366760" y="1325880"/>
            <a:ext cx="3154680" cy="1874519"/>
          </a:xfrm>
          <a:prstGeom prst="roundRect">
            <a:avLst/>
          </a:prstGeom>
          <a:solidFill>
            <a:srgbClr val="1B4C5D"/>
          </a:solidFill>
          <a:ln w="12700"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94776" y="1417320"/>
            <a:ext cx="289864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D8B85A"/>
                </a:solidFill>
                <a:latin typeface="Aptos"/>
              </a:rPr>
              <a:t>4 | DATA SOURCE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4776" y="1764792"/>
            <a:ext cx="2898648" cy="134416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5F2E9"/>
                </a:solidFill>
                <a:latin typeface="Aptos"/>
              </a:rPr>
              <a:t>Data/TechOps_DataFile.xlsx
14 PMO fields
Skills and competency
Career level
Availability
Contract dates
Location and organization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578608" y="2249424"/>
            <a:ext cx="329184" cy="0"/>
          </a:xfrm>
          <a:prstGeom prst="line">
            <a:avLst/>
          </a:prstGeom>
          <a:ln w="2540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5230368" y="2249424"/>
            <a:ext cx="329184" cy="0"/>
          </a:xfrm>
          <a:prstGeom prst="line">
            <a:avLst/>
          </a:prstGeom>
          <a:ln w="2540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010144" y="2249424"/>
            <a:ext cx="292608" cy="0"/>
          </a:xfrm>
          <a:prstGeom prst="line">
            <a:avLst/>
          </a:prstGeom>
          <a:ln w="25400">
            <a:solidFill>
              <a:srgbClr val="D8B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3502152"/>
            <a:ext cx="1097280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D8B85A"/>
                </a:solidFill>
                <a:latin typeface="Aptos"/>
              </a:rPr>
              <a:t>Intent routing and deterministic decision paths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913632"/>
            <a:ext cx="5303520" cy="1417320"/>
          </a:xfrm>
          <a:prstGeom prst="roundRect">
            <a:avLst/>
          </a:prstGeom>
          <a:solidFill>
            <a:srgbClr val="0C4160"/>
          </a:solidFill>
          <a:ln w="12700"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4005072"/>
            <a:ext cx="504748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CF3F7"/>
                </a:solidFill>
                <a:latin typeface="Aptos"/>
              </a:rPr>
              <a:t>MODE 1 | INDIVIDUAL RESOURCE 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352544"/>
            <a:ext cx="5047488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5F2E9"/>
                </a:solidFill>
                <a:latin typeface="Aptos"/>
              </a:rPr>
              <a:t>Prompt parser → skill / CL / date / location filters → primary or secondary skill match → ranked resources
Output: validated individual resource list with MatchScore and MatchedFields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80760" y="3913632"/>
            <a:ext cx="5440680" cy="1417320"/>
          </a:xfrm>
          <a:prstGeom prst="roundRect">
            <a:avLst/>
          </a:prstGeom>
          <a:solidFill>
            <a:srgbClr val="0C525F"/>
          </a:solidFill>
          <a:ln w="12700"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8776" y="4005072"/>
            <a:ext cx="5184648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ECF3F7"/>
                </a:solidFill>
                <a:latin typeface="Aptos"/>
              </a:rPr>
              <a:t>MODE 2 | TEAM COMPOSITION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6" y="4352544"/>
            <a:ext cx="5184648" cy="8869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F5F2E9"/>
                </a:solidFill>
                <a:latin typeface="Aptos"/>
              </a:rPr>
              <a:t>Role parser → quantity + role skill + role CL → future availability filter → unique-resource assignment
Output: team resource list, role gaps, and fulfilled / unfulfilled summary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5596128"/>
            <a:ext cx="1097280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D8B85A"/>
                </a:solidFill>
                <a:latin typeface="Aptos"/>
              </a:rPr>
              <a:t>Shared deterministic business rules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925312"/>
            <a:ext cx="11018520" cy="502920"/>
          </a:xfrm>
          <a:prstGeom prst="roundRect">
            <a:avLst/>
          </a:prstGeom>
          <a:solidFill>
            <a:srgbClr val="123046"/>
          </a:solidFill>
          <a:ln>
            <a:solidFill>
              <a:srgbClr val="467DA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5925312"/>
            <a:ext cx="1060704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5F2E9"/>
                </a:solidFill>
                <a:latin typeface="Aptos"/>
              </a:rPr>
              <a:t>Exact career-level matching  |  Positive availability  |  Contract-date eligibility  |  Primary / secondary skills  |  No duplicate EnterpriseId  |  Traceable workbook fields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6547104"/>
            <a:ext cx="10972800" cy="21945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50" b="0">
                <a:solidFill>
                  <a:srgbClr val="C2D3DE"/>
                </a:solidFill>
                <a:latin typeface="Aptos"/>
              </a:rPr>
              <a:t>Architecture principle: GenAI may explain results later, but eligibility and staffing decisions remain deterministic.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