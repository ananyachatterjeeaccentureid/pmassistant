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3800" b="1">
                <a:solidFill>
                  <a:srgbClr val="D8B85A"/>
                </a:solidFill>
                <a:latin typeface="Aptos Display"/>
              </a:rPr>
              <a:t>PM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783080"/>
            <a:ext cx="10515600" cy="5029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2500" b="1">
                <a:solidFill>
                  <a:srgbClr val="F5F2E9"/>
                </a:solidFill>
                <a:latin typeface="Aptos"/>
              </a:rPr>
              <a:t>TechOps Staffing Search - 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423160"/>
            <a:ext cx="9875520" cy="4114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600" b="0">
                <a:solidFill>
                  <a:srgbClr val="CEDCE6"/>
                </a:solidFill>
                <a:latin typeface="Aptos"/>
              </a:rPr>
              <a:t>Workbook-grounded structured resource discovery with Streamlit UI and FastAPI services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86200"/>
            <a:ext cx="2514600" cy="822960"/>
          </a:xfrm>
          <a:prstGeom prst="roundRect">
            <a:avLst/>
          </a:prstGeom>
          <a:solidFill>
            <a:srgbClr val="195487"/>
          </a:solidFill>
          <a:ln>
            <a:solidFill>
              <a:srgbClr val="467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500" b="1">
                <a:solidFill>
                  <a:srgbClr val="F5F2E9"/>
                </a:solidFill>
                <a:latin typeface="Aptos"/>
              </a:rPr>
              <a:t>Natural-language staffing request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337560" y="4297680"/>
            <a:ext cx="731520" cy="0"/>
          </a:xfrm>
          <a:prstGeom prst="line">
            <a:avLst/>
          </a:prstGeom>
          <a:ln w="27940">
            <a:solidFill>
              <a:srgbClr val="D8B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160520" y="3886200"/>
            <a:ext cx="2514600" cy="822960"/>
          </a:xfrm>
          <a:prstGeom prst="roundRect">
            <a:avLst/>
          </a:prstGeom>
          <a:solidFill>
            <a:srgbClr val="0F7E93"/>
          </a:solidFill>
          <a:ln>
            <a:solidFill>
              <a:srgbClr val="467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500" b="1">
                <a:solidFill>
                  <a:srgbClr val="F5F2E9"/>
                </a:solidFill>
                <a:latin typeface="Aptos"/>
              </a:rPr>
              <a:t>Prompt parsing +
matching engine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766560" y="4297680"/>
            <a:ext cx="731519" cy="0"/>
          </a:xfrm>
          <a:prstGeom prst="line">
            <a:avLst/>
          </a:prstGeom>
          <a:ln w="27940">
            <a:solidFill>
              <a:srgbClr val="D8B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589520" y="3886200"/>
            <a:ext cx="2514600" cy="822960"/>
          </a:xfrm>
          <a:prstGeom prst="roundRect">
            <a:avLst/>
          </a:prstGeom>
          <a:solidFill>
            <a:srgbClr val="25855B"/>
          </a:solidFill>
          <a:ln>
            <a:solidFill>
              <a:srgbClr val="467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500" b="1">
                <a:solidFill>
                  <a:srgbClr val="F5F2E9"/>
                </a:solidFill>
                <a:latin typeface="Aptos"/>
              </a:rPr>
              <a:t>Ranked, validated
resource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126480"/>
            <a:ext cx="3657600" cy="2743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00" b="0">
                <a:solidFill>
                  <a:srgbClr val="748494"/>
                </a:solidFill>
                <a:latin typeface="Aptos"/>
              </a:rPr>
              <a:t>Prepared 15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2700" b="1">
                <a:solidFill>
                  <a:srgbClr val="D8B85A"/>
                </a:solidFill>
                <a:latin typeface="Aptos Display"/>
              </a:rPr>
              <a:t>1. 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88136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00" b="0">
                <a:solidFill>
                  <a:srgbClr val="F5F2E9"/>
                </a:solidFill>
                <a:latin typeface="Aptos"/>
              </a:rPr>
              <a:t>End-to-end architecture for the structured staffing-search application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1109960" cy="13716"/>
          </a:xfrm>
          <a:prstGeom prst="rect">
            <a:avLst/>
          </a:prstGeom>
          <a:solidFill>
            <a:srgbClr val="0F7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1554480" cy="685800"/>
          </a:xfrm>
          <a:prstGeom prst="roundRect">
            <a:avLst/>
          </a:prstGeom>
          <a:solidFill>
            <a:srgbClr val="195487"/>
          </a:solidFill>
          <a:ln>
            <a:solidFill>
              <a:srgbClr val="467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500" b="1">
                <a:solidFill>
                  <a:srgbClr val="F5F2E9"/>
                </a:solidFill>
                <a:latin typeface="Aptos"/>
              </a:rPr>
              <a:t>Staffing user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06040" y="1645920"/>
            <a:ext cx="1828800" cy="1051560"/>
          </a:xfrm>
          <a:prstGeom prst="roundRect">
            <a:avLst/>
          </a:prstGeom>
          <a:solidFill>
            <a:srgbClr val="0F7E93"/>
          </a:solidFill>
          <a:ln>
            <a:solidFill>
              <a:srgbClr val="467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5F2E9"/>
                </a:solidFill>
                <a:latin typeface="Aptos"/>
              </a:rPr>
              <a:t>Streamlit UI
app.py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06040" y="3246120"/>
            <a:ext cx="1828800" cy="1051560"/>
          </a:xfrm>
          <a:prstGeom prst="roundRect">
            <a:avLst/>
          </a:prstGeom>
          <a:solidFill>
            <a:srgbClr val="0F7E93"/>
          </a:solidFill>
          <a:ln>
            <a:solidFill>
              <a:srgbClr val="467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5F2E9"/>
                </a:solidFill>
                <a:latin typeface="Aptos"/>
              </a:rPr>
              <a:t>FastAPI
main.py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57800" y="2331720"/>
            <a:ext cx="2057400" cy="1097280"/>
          </a:xfrm>
          <a:prstGeom prst="roundRect">
            <a:avLst/>
          </a:prstGeom>
          <a:solidFill>
            <a:srgbClr val="D8B85A"/>
          </a:solidFill>
          <a:ln>
            <a:solidFill>
              <a:srgbClr val="467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061426"/>
                </a:solidFill>
                <a:latin typeface="Aptos"/>
              </a:rPr>
              <a:t>TechOpsService
Domain layer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600200"/>
            <a:ext cx="1920240" cy="868680"/>
          </a:xfrm>
          <a:prstGeom prst="roundRect">
            <a:avLst/>
          </a:prstGeom>
          <a:solidFill>
            <a:srgbClr val="195487"/>
          </a:solidFill>
          <a:ln>
            <a:solidFill>
              <a:srgbClr val="467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400" b="1">
                <a:solidFill>
                  <a:srgbClr val="F5F2E9"/>
                </a:solidFill>
                <a:latin typeface="Aptos"/>
              </a:rPr>
              <a:t>Prompt parser
Filters + intent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743200"/>
            <a:ext cx="1920240" cy="868680"/>
          </a:xfrm>
          <a:prstGeom prst="roundRect">
            <a:avLst/>
          </a:prstGeom>
          <a:solidFill>
            <a:srgbClr val="195487"/>
          </a:solidFill>
          <a:ln>
            <a:solidFill>
              <a:srgbClr val="467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400" b="1">
                <a:solidFill>
                  <a:srgbClr val="F5F2E9"/>
                </a:solidFill>
                <a:latin typeface="Aptos"/>
              </a:rPr>
              <a:t>Matcher + scorer
Exact / partial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206240"/>
            <a:ext cx="1920240" cy="868680"/>
          </a:xfrm>
          <a:prstGeom prst="roundRect">
            <a:avLst/>
          </a:prstGeom>
          <a:solidFill>
            <a:srgbClr val="25855B"/>
          </a:solidFill>
          <a:ln>
            <a:solidFill>
              <a:srgbClr val="467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400" b="1">
                <a:solidFill>
                  <a:srgbClr val="F5F2E9"/>
                </a:solidFill>
                <a:latin typeface="Aptos"/>
              </a:rPr>
              <a:t>TechOps_DataFile.xlsx
14-column source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48840" y="2148840"/>
            <a:ext cx="411480" cy="0"/>
          </a:xfrm>
          <a:prstGeom prst="line">
            <a:avLst/>
          </a:prstGeom>
          <a:ln w="27940">
            <a:solidFill>
              <a:srgbClr val="D8B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148840" y="2697480"/>
            <a:ext cx="411480" cy="1051559"/>
          </a:xfrm>
          <a:prstGeom prst="line">
            <a:avLst/>
          </a:prstGeom>
          <a:ln w="27940">
            <a:solidFill>
              <a:srgbClr val="D8B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480560" y="2148840"/>
            <a:ext cx="731520" cy="594360"/>
          </a:xfrm>
          <a:prstGeom prst="line">
            <a:avLst/>
          </a:prstGeom>
          <a:ln w="27940">
            <a:solidFill>
              <a:srgbClr val="D8B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480560" y="3017520"/>
            <a:ext cx="731520" cy="731519"/>
          </a:xfrm>
          <a:prstGeom prst="line">
            <a:avLst/>
          </a:prstGeom>
          <a:ln w="27940">
            <a:solidFill>
              <a:srgbClr val="D8B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360920" y="2057400"/>
            <a:ext cx="822959" cy="640080"/>
          </a:xfrm>
          <a:prstGeom prst="line">
            <a:avLst/>
          </a:prstGeom>
          <a:ln w="27940">
            <a:solidFill>
              <a:srgbClr val="D8B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360920" y="2971800"/>
            <a:ext cx="822959" cy="182880"/>
          </a:xfrm>
          <a:prstGeom prst="line">
            <a:avLst/>
          </a:prstGeom>
          <a:ln w="27940">
            <a:solidFill>
              <a:srgbClr val="D8B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189720" y="3611880"/>
            <a:ext cx="0" cy="548640"/>
          </a:xfrm>
          <a:prstGeom prst="line">
            <a:avLst/>
          </a:prstGeom>
          <a:ln w="27940">
            <a:solidFill>
              <a:srgbClr val="D8B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31520" y="5715000"/>
            <a:ext cx="10789920" cy="4114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ctr"/>
            <a:r>
              <a:rPr sz="1500" b="0">
                <a:solidFill>
                  <a:srgbClr val="F5F2E9"/>
                </a:solidFill>
                <a:latin typeface="Aptos"/>
              </a:rPr>
              <a:t>One domain service keeps UI and API behavior aligned and ensures all recommendations are grounded in the PMO workbook.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2700" b="1">
                <a:solidFill>
                  <a:srgbClr val="D8B85A"/>
                </a:solidFill>
                <a:latin typeface="Aptos Display"/>
              </a:rPr>
              <a:t>2. Logical component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88136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00" b="0">
                <a:solidFill>
                  <a:srgbClr val="F5F2E9"/>
                </a:solidFill>
                <a:latin typeface="Aptos"/>
              </a:rPr>
              <a:t>Responsibilities of the application layers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1109960" cy="13716"/>
          </a:xfrm>
          <a:prstGeom prst="rect">
            <a:avLst/>
          </a:prstGeom>
          <a:solidFill>
            <a:srgbClr val="0F7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600200"/>
            <a:ext cx="2331720" cy="475488"/>
          </a:xfrm>
          <a:prstGeom prst="roundRect">
            <a:avLst/>
          </a:prstGeom>
          <a:solidFill>
            <a:srgbClr val="195487"/>
          </a:solidFill>
          <a:ln>
            <a:solidFill>
              <a:srgbClr val="467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500" b="1">
                <a:solidFill>
                  <a:srgbClr val="F5F2E9"/>
                </a:solidFill>
                <a:latin typeface="Aptos"/>
              </a:rPr>
              <a:t>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48840"/>
            <a:ext cx="2331720" cy="2423160"/>
          </a:xfrm>
          <a:prstGeom prst="roundRect">
            <a:avLst/>
          </a:prstGeom>
          <a:solidFill>
            <a:srgbClr val="12395B"/>
          </a:solidFill>
          <a:ln>
            <a:solidFill>
              <a:srgbClr val="376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>
              <a:spcAft>
                <a:spcPts val="800"/>
              </a:spcAft>
              <a:defRPr sz="1300">
                <a:solidFill>
                  <a:srgbClr val="F5F2E9"/>
                </a:solidFill>
                <a:latin typeface="Aptos"/>
              </a:defRPr>
            </a:pPr>
            <a:r>
              <a:t>Streamlit UI</a:t>
            </a:r>
          </a:p>
          <a:p>
            <a:pPr>
              <a:spcAft>
                <a:spcPts val="800"/>
              </a:spcAft>
              <a:defRPr sz="1300">
                <a:solidFill>
                  <a:srgbClr val="F5F2E9"/>
                </a:solidFill>
                <a:latin typeface="Aptos"/>
              </a:defRPr>
            </a:pPr>
            <a:r>
              <a:t>Chat input</a:t>
            </a:r>
          </a:p>
          <a:p>
            <a:pPr>
              <a:spcAft>
                <a:spcPts val="800"/>
              </a:spcAft>
              <a:defRPr sz="1300">
                <a:solidFill>
                  <a:srgbClr val="F5F2E9"/>
                </a:solidFill>
                <a:latin typeface="Aptos"/>
              </a:defRPr>
            </a:pPr>
            <a:r>
              <a:t>Recent questions</a:t>
            </a:r>
          </a:p>
          <a:p>
            <a:pPr>
              <a:spcAft>
                <a:spcPts val="800"/>
              </a:spcAft>
              <a:defRPr sz="1300">
                <a:solidFill>
                  <a:srgbClr val="F5F2E9"/>
                </a:solidFill>
                <a:latin typeface="Aptos"/>
              </a:defRPr>
            </a:pPr>
            <a:r>
              <a:t>Metrics</a:t>
            </a:r>
          </a:p>
          <a:p>
            <a:pPr>
              <a:spcAft>
                <a:spcPts val="800"/>
              </a:spcAft>
              <a:defRPr sz="1300">
                <a:solidFill>
                  <a:srgbClr val="F5F2E9"/>
                </a:solidFill>
                <a:latin typeface="Aptos"/>
              </a:defRPr>
            </a:pPr>
            <a:r>
              <a:t>Exports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90088" y="3337560"/>
            <a:ext cx="420624" cy="0"/>
          </a:xfrm>
          <a:prstGeom prst="line">
            <a:avLst/>
          </a:prstGeom>
          <a:ln w="27940">
            <a:solidFill>
              <a:srgbClr val="D8B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474720" y="1600200"/>
            <a:ext cx="2331720" cy="475488"/>
          </a:xfrm>
          <a:prstGeom prst="roundRect">
            <a:avLst/>
          </a:prstGeom>
          <a:solidFill>
            <a:srgbClr val="0F7E93"/>
          </a:solidFill>
          <a:ln>
            <a:solidFill>
              <a:srgbClr val="467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500" b="1">
                <a:solidFill>
                  <a:srgbClr val="F5F2E9"/>
                </a:solidFill>
                <a:latin typeface="Aptos"/>
              </a:rPr>
              <a:t>Service/API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148840"/>
            <a:ext cx="2331720" cy="2423160"/>
          </a:xfrm>
          <a:prstGeom prst="roundRect">
            <a:avLst/>
          </a:prstGeom>
          <a:solidFill>
            <a:srgbClr val="12395B"/>
          </a:solidFill>
          <a:ln>
            <a:solidFill>
              <a:srgbClr val="376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>
              <a:spcAft>
                <a:spcPts val="800"/>
              </a:spcAft>
              <a:defRPr sz="1300">
                <a:solidFill>
                  <a:srgbClr val="F5F2E9"/>
                </a:solidFill>
                <a:latin typeface="Aptos"/>
              </a:defRPr>
            </a:pPr>
            <a:r>
              <a:t>FastAPI endpoints</a:t>
            </a:r>
          </a:p>
          <a:p>
            <a:pPr>
              <a:spcAft>
                <a:spcPts val="800"/>
              </a:spcAft>
              <a:defRPr sz="1300">
                <a:solidFill>
                  <a:srgbClr val="F5F2E9"/>
                </a:solidFill>
                <a:latin typeface="Aptos"/>
              </a:defRPr>
            </a:pPr>
            <a:r>
              <a:t>TechOpsService</a:t>
            </a:r>
          </a:p>
          <a:p>
            <a:pPr>
              <a:spcAft>
                <a:spcPts val="800"/>
              </a:spcAft>
              <a:defRPr sz="1300">
                <a:solidFill>
                  <a:srgbClr val="F5F2E9"/>
                </a:solidFill>
                <a:latin typeface="Aptos"/>
              </a:defRPr>
            </a:pPr>
            <a:r>
              <a:t>Schema validation</a:t>
            </a:r>
          </a:p>
          <a:p>
            <a:pPr>
              <a:spcAft>
                <a:spcPts val="800"/>
              </a:spcAft>
              <a:defRPr sz="1300">
                <a:solidFill>
                  <a:srgbClr val="F5F2E9"/>
                </a:solidFill>
                <a:latin typeface="Aptos"/>
              </a:defRPr>
            </a:pPr>
            <a:r>
              <a:t>Serialization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70448" y="3337560"/>
            <a:ext cx="420624" cy="0"/>
          </a:xfrm>
          <a:prstGeom prst="line">
            <a:avLst/>
          </a:prstGeom>
          <a:ln w="27940">
            <a:solidFill>
              <a:srgbClr val="D8B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55080" y="1600200"/>
            <a:ext cx="2331720" cy="475488"/>
          </a:xfrm>
          <a:prstGeom prst="roundRect">
            <a:avLst/>
          </a:prstGeom>
          <a:solidFill>
            <a:srgbClr val="D8B85A"/>
          </a:solidFill>
          <a:ln>
            <a:solidFill>
              <a:srgbClr val="467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500" b="1">
                <a:solidFill>
                  <a:srgbClr val="061426"/>
                </a:solidFill>
                <a:latin typeface="Aptos"/>
              </a:rPr>
              <a:t>Search intelligence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148840"/>
            <a:ext cx="2331720" cy="2423160"/>
          </a:xfrm>
          <a:prstGeom prst="roundRect">
            <a:avLst/>
          </a:prstGeom>
          <a:solidFill>
            <a:srgbClr val="12395B"/>
          </a:solidFill>
          <a:ln>
            <a:solidFill>
              <a:srgbClr val="376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>
              <a:spcAft>
                <a:spcPts val="800"/>
              </a:spcAft>
              <a:defRPr sz="1300">
                <a:solidFill>
                  <a:srgbClr val="F5F2E9"/>
                </a:solidFill>
                <a:latin typeface="Aptos"/>
              </a:defRPr>
            </a:pPr>
            <a:r>
              <a:t>Skill extraction</a:t>
            </a:r>
          </a:p>
          <a:p>
            <a:pPr>
              <a:spcAft>
                <a:spcPts val="800"/>
              </a:spcAft>
              <a:defRPr sz="1300">
                <a:solidFill>
                  <a:srgbClr val="F5F2E9"/>
                </a:solidFill>
                <a:latin typeface="Aptos"/>
              </a:defRPr>
            </a:pPr>
            <a:r>
              <a:t>CL interpretation</a:t>
            </a:r>
          </a:p>
          <a:p>
            <a:pPr>
              <a:spcAft>
                <a:spcPts val="800"/>
              </a:spcAft>
              <a:defRPr sz="1300">
                <a:solidFill>
                  <a:srgbClr val="F5F2E9"/>
                </a:solidFill>
                <a:latin typeface="Aptos"/>
              </a:defRPr>
            </a:pPr>
            <a:r>
              <a:t>Date parsing</a:t>
            </a:r>
          </a:p>
          <a:p>
            <a:pPr>
              <a:spcAft>
                <a:spcPts val="800"/>
              </a:spcAft>
              <a:defRPr sz="1300">
                <a:solidFill>
                  <a:srgbClr val="F5F2E9"/>
                </a:solidFill>
                <a:latin typeface="Aptos"/>
              </a:defRPr>
            </a:pPr>
            <a:r>
              <a:t>Location filters</a:t>
            </a:r>
          </a:p>
          <a:p>
            <a:pPr>
              <a:spcAft>
                <a:spcPts val="800"/>
              </a:spcAft>
              <a:defRPr sz="1300">
                <a:solidFill>
                  <a:srgbClr val="F5F2E9"/>
                </a:solidFill>
                <a:latin typeface="Aptos"/>
              </a:defRPr>
            </a:pPr>
            <a:r>
              <a:t>Scoring + validation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750808" y="3337560"/>
            <a:ext cx="420624" cy="0"/>
          </a:xfrm>
          <a:prstGeom prst="line">
            <a:avLst/>
          </a:prstGeom>
          <a:ln w="27940">
            <a:solidFill>
              <a:srgbClr val="D8B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235440" y="1600200"/>
            <a:ext cx="2331720" cy="475488"/>
          </a:xfrm>
          <a:prstGeom prst="roundRect">
            <a:avLst/>
          </a:prstGeom>
          <a:solidFill>
            <a:srgbClr val="25855B"/>
          </a:solidFill>
          <a:ln>
            <a:solidFill>
              <a:srgbClr val="467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500" b="1">
                <a:solidFill>
                  <a:srgbClr val="F5F2E9"/>
                </a:solidFill>
                <a:latin typeface="Aptos"/>
              </a:rPr>
              <a:t>Data source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2148840"/>
            <a:ext cx="2331720" cy="2423160"/>
          </a:xfrm>
          <a:prstGeom prst="roundRect">
            <a:avLst/>
          </a:prstGeom>
          <a:solidFill>
            <a:srgbClr val="12395B"/>
          </a:solidFill>
          <a:ln>
            <a:solidFill>
              <a:srgbClr val="376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>
              <a:spcAft>
                <a:spcPts val="800"/>
              </a:spcAft>
              <a:defRPr sz="1300">
                <a:solidFill>
                  <a:srgbClr val="F5F2E9"/>
                </a:solidFill>
                <a:latin typeface="Aptos"/>
              </a:defRPr>
            </a:pPr>
            <a:r>
              <a:t>Excel workbook</a:t>
            </a:r>
          </a:p>
          <a:p>
            <a:pPr>
              <a:spcAft>
                <a:spcPts val="800"/>
              </a:spcAft>
              <a:defRPr sz="1300">
                <a:solidFill>
                  <a:srgbClr val="F5F2E9"/>
                </a:solidFill>
                <a:latin typeface="Aptos"/>
              </a:defRPr>
            </a:pPr>
            <a:r>
              <a:t>Resource identity</a:t>
            </a:r>
          </a:p>
          <a:p>
            <a:pPr>
              <a:spcAft>
                <a:spcPts val="800"/>
              </a:spcAft>
              <a:defRPr sz="1300">
                <a:solidFill>
                  <a:srgbClr val="F5F2E9"/>
                </a:solidFill>
                <a:latin typeface="Aptos"/>
              </a:defRPr>
            </a:pPr>
            <a:r>
              <a:t>Skills</a:t>
            </a:r>
          </a:p>
          <a:p>
            <a:pPr>
              <a:spcAft>
                <a:spcPts val="800"/>
              </a:spcAft>
              <a:defRPr sz="1300">
                <a:solidFill>
                  <a:srgbClr val="F5F2E9"/>
                </a:solidFill>
                <a:latin typeface="Aptos"/>
              </a:defRPr>
            </a:pPr>
            <a:r>
              <a:t>Capacity</a:t>
            </a:r>
          </a:p>
          <a:p>
            <a:pPr>
              <a:spcAft>
                <a:spcPts val="800"/>
              </a:spcAft>
              <a:defRPr sz="1300">
                <a:solidFill>
                  <a:srgbClr val="F5F2E9"/>
                </a:solidFill>
                <a:latin typeface="Aptos"/>
              </a:defRPr>
            </a:pPr>
            <a:r>
              <a:t>Contracts</a:t>
            </a:r>
          </a:p>
          <a:p>
            <a:pPr>
              <a:spcAft>
                <a:spcPts val="800"/>
              </a:spcAft>
              <a:defRPr sz="1300">
                <a:solidFill>
                  <a:srgbClr val="F5F2E9"/>
                </a:solidFill>
                <a:latin typeface="Aptos"/>
              </a:defRPr>
            </a:pPr>
            <a:r>
              <a:t>Organization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166360"/>
            <a:ext cx="10698480" cy="5943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ctr"/>
            <a:r>
              <a:rPr sz="1500" b="0">
                <a:solidFill>
                  <a:srgbClr val="F5F2E9"/>
                </a:solidFill>
                <a:latin typeface="Aptos"/>
              </a:rPr>
              <a:t>Cross-cutting behavior: deterministic filtering, explicit errors for missing schema/file, invalid availability treated as unavailable, no generic staffing answer mode.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2700" b="1">
                <a:solidFill>
                  <a:srgbClr val="D8B85A"/>
                </a:solidFill>
                <a:latin typeface="Aptos Display"/>
              </a:rPr>
              <a:t>3. Data and ontology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88136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00" b="0">
                <a:solidFill>
                  <a:srgbClr val="F5F2E9"/>
                </a:solidFill>
                <a:latin typeface="Aptos"/>
              </a:rPr>
              <a:t>Resource-centered model mapped directly to TechOps_DataFile.xlsx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1109960" cy="13716"/>
          </a:xfrm>
          <a:prstGeom prst="rect">
            <a:avLst/>
          </a:prstGeom>
          <a:solidFill>
            <a:srgbClr val="0F7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709160" y="2331720"/>
            <a:ext cx="2743200" cy="1143000"/>
          </a:xfrm>
          <a:prstGeom prst="roundRect">
            <a:avLst/>
          </a:prstGeom>
          <a:solidFill>
            <a:srgbClr val="D8B85A"/>
          </a:solidFill>
          <a:ln>
            <a:solidFill>
              <a:srgbClr val="467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800" b="1">
                <a:solidFill>
                  <a:srgbClr val="061426"/>
                </a:solidFill>
                <a:latin typeface="Aptos"/>
              </a:rPr>
              <a:t>Resource
EnterpriseId | CL
Availability | RollonDate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417320"/>
            <a:ext cx="2240280" cy="1051560"/>
          </a:xfrm>
          <a:prstGeom prst="roundRect">
            <a:avLst/>
          </a:prstGeom>
          <a:solidFill>
            <a:srgbClr val="195487"/>
          </a:solidFill>
          <a:ln>
            <a:solidFill>
              <a:srgbClr val="467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500" b="1">
                <a:solidFill>
                  <a:srgbClr val="F5F2E9"/>
                </a:solidFill>
                <a:latin typeface="Aptos"/>
              </a:rPr>
              <a:t>Skills
Primary Skill
Secondary Skill
Competency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069080"/>
            <a:ext cx="2240280" cy="1051560"/>
          </a:xfrm>
          <a:prstGeom prst="roundRect">
            <a:avLst/>
          </a:prstGeom>
          <a:solidFill>
            <a:srgbClr val="0F7E93"/>
          </a:solidFill>
          <a:ln>
            <a:solidFill>
              <a:srgbClr val="467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500" b="1">
                <a:solidFill>
                  <a:srgbClr val="F5F2E9"/>
                </a:solidFill>
                <a:latin typeface="Aptos"/>
              </a:rPr>
              <a:t>Organization
RDT Function
RDT Subfunction
Supervisor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417320"/>
            <a:ext cx="2240280" cy="1051560"/>
          </a:xfrm>
          <a:prstGeom prst="roundRect">
            <a:avLst/>
          </a:prstGeom>
          <a:solidFill>
            <a:srgbClr val="195487"/>
          </a:solidFill>
          <a:ln>
            <a:solidFill>
              <a:srgbClr val="467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500" b="1">
                <a:solidFill>
                  <a:srgbClr val="F5F2E9"/>
                </a:solidFill>
                <a:latin typeface="Aptos"/>
              </a:rPr>
              <a:t>Location
Country | City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4069080"/>
            <a:ext cx="2240280" cy="1051560"/>
          </a:xfrm>
          <a:prstGeom prst="roundRect">
            <a:avLst/>
          </a:prstGeom>
          <a:solidFill>
            <a:srgbClr val="25855B"/>
          </a:solidFill>
          <a:ln>
            <a:solidFill>
              <a:srgbClr val="467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500" b="1">
                <a:solidFill>
                  <a:srgbClr val="F5F2E9"/>
                </a:solidFill>
                <a:latin typeface="Aptos"/>
              </a:rPr>
              <a:t>Contract
Start Date
End Date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0400" y="1965960"/>
            <a:ext cx="1463040" cy="777240"/>
          </a:xfrm>
          <a:prstGeom prst="line">
            <a:avLst/>
          </a:prstGeom>
          <a:ln w="27940">
            <a:solidFill>
              <a:srgbClr val="D8B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3200400" y="3063240"/>
            <a:ext cx="1463040" cy="1508760"/>
          </a:xfrm>
          <a:prstGeom prst="line">
            <a:avLst/>
          </a:prstGeom>
          <a:ln w="27940">
            <a:solidFill>
              <a:srgbClr val="D8B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498079" y="1965960"/>
            <a:ext cx="1417321" cy="777240"/>
          </a:xfrm>
          <a:prstGeom prst="line">
            <a:avLst/>
          </a:prstGeom>
          <a:ln w="27940">
            <a:solidFill>
              <a:srgbClr val="D8B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498079" y="3063240"/>
            <a:ext cx="1417321" cy="1508760"/>
          </a:xfrm>
          <a:prstGeom prst="line">
            <a:avLst/>
          </a:prstGeom>
          <a:ln w="27940">
            <a:solidFill>
              <a:srgbClr val="D8B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ctr"/>
            <a:r>
              <a:rPr sz="1500" b="0">
                <a:solidFill>
                  <a:srgbClr val="F5F2E9"/>
                </a:solidFill>
                <a:latin typeface="Aptos"/>
              </a:rPr>
              <a:t>Ontology principle: a person is recommended only after combining skills, career level, capacity, contract timing, and geography.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2700" b="1">
                <a:solidFill>
                  <a:srgbClr val="D8B85A"/>
                </a:solidFill>
                <a:latin typeface="Aptos Display"/>
              </a:rPr>
              <a:t>4. Search decision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88136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00" b="0">
                <a:solidFill>
                  <a:srgbClr val="F5F2E9"/>
                </a:solidFill>
                <a:latin typeface="Aptos"/>
              </a:rPr>
              <a:t>The rules applied to each natural-language staffing request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1109960" cy="13716"/>
          </a:xfrm>
          <a:prstGeom prst="rect">
            <a:avLst/>
          </a:prstGeom>
          <a:solidFill>
            <a:srgbClr val="0F7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16152" y="1554480"/>
            <a:ext cx="502920" cy="502920"/>
          </a:xfrm>
          <a:prstGeom prst="roundRect">
            <a:avLst/>
          </a:prstGeom>
          <a:solidFill>
            <a:srgbClr val="D8B85A"/>
          </a:solidFill>
          <a:ln>
            <a:solidFill>
              <a:srgbClr val="467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061426"/>
                </a:solidFill>
                <a:latin typeface="Aptos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40280"/>
            <a:ext cx="1965960" cy="502920"/>
          </a:xfrm>
          <a:prstGeom prst="roundRect">
            <a:avLst/>
          </a:prstGeom>
          <a:solidFill>
            <a:srgbClr val="0F7E93"/>
          </a:solidFill>
          <a:ln>
            <a:solidFill>
              <a:srgbClr val="467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400" b="1">
                <a:solidFill>
                  <a:srgbClr val="F5F2E9"/>
                </a:solidFill>
                <a:latin typeface="Aptos"/>
              </a:rPr>
              <a:t>Parse prompt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880360"/>
            <a:ext cx="1965960" cy="1508760"/>
          </a:xfrm>
          <a:prstGeom prst="roundRect">
            <a:avLst/>
          </a:prstGeom>
          <a:solidFill>
            <a:srgbClr val="12395B"/>
          </a:solidFill>
          <a:ln>
            <a:solidFill>
              <a:srgbClr val="376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>
              <a:spcAft>
                <a:spcPts val="800"/>
              </a:spcAft>
              <a:defRPr sz="1200">
                <a:solidFill>
                  <a:srgbClr val="F5F2E9"/>
                </a:solidFill>
                <a:latin typeface="Aptos"/>
              </a:defRPr>
            </a:pPr>
            <a:r>
              <a:t>Extract skills, CL, availability, dates, country/city, result limit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96312" y="2487168"/>
            <a:ext cx="274320" cy="0"/>
          </a:xfrm>
          <a:prstGeom prst="line">
            <a:avLst/>
          </a:prstGeom>
          <a:ln w="27940">
            <a:solidFill>
              <a:srgbClr val="D8B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547872" y="1554480"/>
            <a:ext cx="502920" cy="502920"/>
          </a:xfrm>
          <a:prstGeom prst="roundRect">
            <a:avLst/>
          </a:prstGeom>
          <a:solidFill>
            <a:srgbClr val="D8B85A"/>
          </a:solidFill>
          <a:ln>
            <a:solidFill>
              <a:srgbClr val="467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061426"/>
                </a:solidFill>
                <a:latin typeface="Aptos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39" y="2240280"/>
            <a:ext cx="1965960" cy="502920"/>
          </a:xfrm>
          <a:prstGeom prst="roundRect">
            <a:avLst/>
          </a:prstGeom>
          <a:solidFill>
            <a:srgbClr val="0F7E93"/>
          </a:solidFill>
          <a:ln>
            <a:solidFill>
              <a:srgbClr val="467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400" b="1">
                <a:solidFill>
                  <a:srgbClr val="F5F2E9"/>
                </a:solidFill>
                <a:latin typeface="Aptos"/>
              </a:rPr>
              <a:t>Build candidates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39" y="2880360"/>
            <a:ext cx="1965960" cy="1508760"/>
          </a:xfrm>
          <a:prstGeom prst="roundRect">
            <a:avLst/>
          </a:prstGeom>
          <a:solidFill>
            <a:srgbClr val="12395B"/>
          </a:solidFill>
          <a:ln>
            <a:solidFill>
              <a:srgbClr val="376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>
              <a:spcAft>
                <a:spcPts val="800"/>
              </a:spcAft>
              <a:defRPr sz="1200">
                <a:solidFill>
                  <a:srgbClr val="F5F2E9"/>
                </a:solidFill>
                <a:latin typeface="Aptos"/>
              </a:defRPr>
            </a:pPr>
            <a:r>
              <a:t>Exclude unusable skill rows; match primary OR secondary skills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28031" y="2487168"/>
            <a:ext cx="274321" cy="0"/>
          </a:xfrm>
          <a:prstGeom prst="line">
            <a:avLst/>
          </a:prstGeom>
          <a:ln w="27940">
            <a:solidFill>
              <a:srgbClr val="D8B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879592" y="1554480"/>
            <a:ext cx="502920" cy="502920"/>
          </a:xfrm>
          <a:prstGeom prst="roundRect">
            <a:avLst/>
          </a:prstGeom>
          <a:solidFill>
            <a:srgbClr val="D8B85A"/>
          </a:solidFill>
          <a:ln>
            <a:solidFill>
              <a:srgbClr val="467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061426"/>
                </a:solidFill>
                <a:latin typeface="Aptos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59" y="2240280"/>
            <a:ext cx="1965960" cy="502920"/>
          </a:xfrm>
          <a:prstGeom prst="roundRect">
            <a:avLst/>
          </a:prstGeom>
          <a:solidFill>
            <a:srgbClr val="0F7E93"/>
          </a:solidFill>
          <a:ln>
            <a:solidFill>
              <a:srgbClr val="467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400" b="1">
                <a:solidFill>
                  <a:srgbClr val="F5F2E9"/>
                </a:solidFill>
                <a:latin typeface="Aptos"/>
              </a:rPr>
              <a:t>Apply fixed filters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59" y="2880360"/>
            <a:ext cx="1965960" cy="1508760"/>
          </a:xfrm>
          <a:prstGeom prst="roundRect">
            <a:avLst/>
          </a:prstGeom>
          <a:solidFill>
            <a:srgbClr val="12395B"/>
          </a:solidFill>
          <a:ln>
            <a:solidFill>
              <a:srgbClr val="376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>
              <a:spcAft>
                <a:spcPts val="800"/>
              </a:spcAft>
              <a:defRPr sz="1200">
                <a:solidFill>
                  <a:srgbClr val="F5F2E9"/>
                </a:solidFill>
                <a:latin typeface="Aptos"/>
              </a:defRPr>
            </a:pPr>
            <a:r>
              <a:t>Exact/relative career-level logic; enterprise ID lookup when present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159752" y="2487168"/>
            <a:ext cx="274319" cy="0"/>
          </a:xfrm>
          <a:prstGeom prst="line">
            <a:avLst/>
          </a:prstGeom>
          <a:ln w="27940">
            <a:solidFill>
              <a:srgbClr val="D8B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211311" y="1554480"/>
            <a:ext cx="502920" cy="502920"/>
          </a:xfrm>
          <a:prstGeom prst="roundRect">
            <a:avLst/>
          </a:prstGeom>
          <a:solidFill>
            <a:srgbClr val="D8B85A"/>
          </a:solidFill>
          <a:ln>
            <a:solidFill>
              <a:srgbClr val="467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061426"/>
                </a:solidFill>
                <a:latin typeface="Aptos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2240280"/>
            <a:ext cx="1965960" cy="502920"/>
          </a:xfrm>
          <a:prstGeom prst="roundRect">
            <a:avLst/>
          </a:prstGeom>
          <a:solidFill>
            <a:srgbClr val="0F7E93"/>
          </a:solidFill>
          <a:ln>
            <a:solidFill>
              <a:srgbClr val="467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400" b="1">
                <a:solidFill>
                  <a:srgbClr val="F5F2E9"/>
                </a:solidFill>
                <a:latin typeface="Aptos"/>
              </a:rPr>
              <a:t>Validate availability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2880360"/>
            <a:ext cx="1965960" cy="1508760"/>
          </a:xfrm>
          <a:prstGeom prst="roundRect">
            <a:avLst/>
          </a:prstGeom>
          <a:solidFill>
            <a:srgbClr val="12395B"/>
          </a:solidFill>
          <a:ln>
            <a:solidFill>
              <a:srgbClr val="376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>
              <a:spcAft>
                <a:spcPts val="800"/>
              </a:spcAft>
              <a:defRPr sz="1200">
                <a:solidFill>
                  <a:srgbClr val="F5F2E9"/>
                </a:solidFill>
                <a:latin typeface="Aptos"/>
              </a:defRPr>
            </a:pPr>
            <a:r>
              <a:t>Current: Availability &gt; 0 AND ContractEndDate &lt;= today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491472" y="2487168"/>
            <a:ext cx="274320" cy="0"/>
          </a:xfrm>
          <a:prstGeom prst="line">
            <a:avLst/>
          </a:prstGeom>
          <a:ln w="27940">
            <a:solidFill>
              <a:srgbClr val="D8B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543032" y="1554480"/>
            <a:ext cx="502920" cy="502920"/>
          </a:xfrm>
          <a:prstGeom prst="roundRect">
            <a:avLst/>
          </a:prstGeom>
          <a:solidFill>
            <a:srgbClr val="D8B85A"/>
          </a:solidFill>
          <a:ln>
            <a:solidFill>
              <a:srgbClr val="467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061426"/>
                </a:solidFill>
                <a:latin typeface="Aptos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29800" y="2240280"/>
            <a:ext cx="1965960" cy="502920"/>
          </a:xfrm>
          <a:prstGeom prst="roundRect">
            <a:avLst/>
          </a:prstGeom>
          <a:solidFill>
            <a:srgbClr val="0F7E93"/>
          </a:solidFill>
          <a:ln>
            <a:solidFill>
              <a:srgbClr val="467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400" b="1">
                <a:solidFill>
                  <a:srgbClr val="F5F2E9"/>
                </a:solidFill>
                <a:latin typeface="Aptos"/>
              </a:rPr>
              <a:t>Score + classify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29800" y="2880360"/>
            <a:ext cx="1965960" cy="1508760"/>
          </a:xfrm>
          <a:prstGeom prst="roundRect">
            <a:avLst/>
          </a:prstGeom>
          <a:solidFill>
            <a:srgbClr val="12395B"/>
          </a:solidFill>
          <a:ln>
            <a:solidFill>
              <a:srgbClr val="376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>
              <a:spcAft>
                <a:spcPts val="800"/>
              </a:spcAft>
              <a:defRPr sz="1200">
                <a:solidFill>
                  <a:srgbClr val="F5F2E9"/>
                </a:solidFill>
                <a:latin typeface="Aptos"/>
              </a:defRPr>
            </a:pPr>
            <a:r>
              <a:t>Exact results first; otherwise ranked partial results + message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5074920"/>
            <a:ext cx="9966960" cy="685800"/>
          </a:xfrm>
          <a:prstGeom prst="roundRect">
            <a:avLst/>
          </a:prstGeom>
          <a:solidFill>
            <a:srgbClr val="B13E3E"/>
          </a:solidFill>
          <a:ln>
            <a:solidFill>
              <a:srgbClr val="467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500" b="1">
                <a:solidFill>
                  <a:srgbClr val="F5F2E9"/>
                </a:solidFill>
                <a:latin typeface="Aptos"/>
              </a:rPr>
              <a:t>Future availability is separate: ?available after December 2026? evaluates the contract end-date boundary rather than current capacity.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2700" b="1">
                <a:solidFill>
                  <a:srgbClr val="D8B85A"/>
                </a:solidFill>
                <a:latin typeface="Aptos Display"/>
              </a:rPr>
              <a:t>5. Interfaces and operational behavior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88136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00" b="0">
                <a:solidFill>
                  <a:srgbClr val="F5F2E9"/>
                </a:solidFill>
                <a:latin typeface="Aptos"/>
              </a:rPr>
              <a:t>How users and downstream clients consume the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1109960" cy="13716"/>
          </a:xfrm>
          <a:prstGeom prst="rect">
            <a:avLst/>
          </a:prstGeom>
          <a:solidFill>
            <a:srgbClr val="0F7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2514600" cy="822960"/>
          </a:xfrm>
          <a:prstGeom prst="roundRect">
            <a:avLst/>
          </a:prstGeom>
          <a:solidFill>
            <a:srgbClr val="0F7E93"/>
          </a:solidFill>
          <a:ln>
            <a:solidFill>
              <a:srgbClr val="467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5F2E9"/>
                </a:solidFill>
                <a:latin typeface="Aptos"/>
              </a:rPr>
              <a:t>Streamlit
http://localhost:8501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0" y="1600200"/>
            <a:ext cx="2514600" cy="822960"/>
          </a:xfrm>
          <a:prstGeom prst="roundRect">
            <a:avLst/>
          </a:prstGeom>
          <a:solidFill>
            <a:srgbClr val="195487"/>
          </a:solidFill>
          <a:ln>
            <a:solidFill>
              <a:srgbClr val="467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5F2E9"/>
                </a:solidFill>
                <a:latin typeface="Aptos"/>
              </a:rPr>
              <a:t>POST /resources/search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15400" y="1600200"/>
            <a:ext cx="2514600" cy="822960"/>
          </a:xfrm>
          <a:prstGeom prst="roundRect">
            <a:avLst/>
          </a:prstGeom>
          <a:solidFill>
            <a:srgbClr val="195487"/>
          </a:solidFill>
          <a:ln>
            <a:solidFill>
              <a:srgbClr val="467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500" b="1">
                <a:solidFill>
                  <a:srgbClr val="F5F2E9"/>
                </a:solidFill>
                <a:latin typeface="Aptos"/>
              </a:rPr>
              <a:t>GET /resources
GET /resources/columns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46120" y="2011680"/>
            <a:ext cx="1463040" cy="0"/>
          </a:xfrm>
          <a:prstGeom prst="line">
            <a:avLst/>
          </a:prstGeom>
          <a:ln w="27940">
            <a:solidFill>
              <a:srgbClr val="D8B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360920" y="2011680"/>
            <a:ext cx="1463040" cy="0"/>
          </a:xfrm>
          <a:prstGeom prst="line">
            <a:avLst/>
          </a:prstGeom>
          <a:ln w="27940">
            <a:solidFill>
              <a:srgbClr val="D8B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85800" y="2971800"/>
            <a:ext cx="4800600" cy="2057400"/>
          </a:xfrm>
          <a:prstGeom prst="roundRect">
            <a:avLst/>
          </a:prstGeom>
          <a:solidFill>
            <a:srgbClr val="12395B"/>
          </a:solidFill>
          <a:ln>
            <a:solidFill>
              <a:srgbClr val="376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>
              <a:spcAft>
                <a:spcPts val="800"/>
              </a:spcAft>
              <a:defRPr sz="1400">
                <a:solidFill>
                  <a:srgbClr val="F5F2E9"/>
                </a:solidFill>
                <a:latin typeface="Aptos"/>
              </a:defRPr>
            </a:pPr>
            <a:r>
              <a:t>Chat-style staffing search grounded in workbook data</a:t>
            </a:r>
          </a:p>
          <a:p>
            <a:pPr>
              <a:spcAft>
                <a:spcPts val="800"/>
              </a:spcAft>
              <a:defRPr sz="1400">
                <a:solidFill>
                  <a:srgbClr val="F5F2E9"/>
                </a:solidFill>
                <a:latin typeface="Aptos"/>
              </a:defRPr>
            </a:pPr>
            <a:r>
              <a:t>Ranked table with MatchScore and MatchedFields</a:t>
            </a:r>
          </a:p>
          <a:p>
            <a:pPr>
              <a:spcAft>
                <a:spcPts val="800"/>
              </a:spcAft>
              <a:defRPr sz="1400">
                <a:solidFill>
                  <a:srgbClr val="F5F2E9"/>
                </a:solidFill>
                <a:latin typeface="Aptos"/>
              </a:defRPr>
            </a:pPr>
            <a:r>
              <a:t>CSV and Excel downloads</a:t>
            </a:r>
          </a:p>
          <a:p>
            <a:pPr>
              <a:spcAft>
                <a:spcPts val="800"/>
              </a:spcAft>
              <a:defRPr sz="1400">
                <a:solidFill>
                  <a:srgbClr val="F5F2E9"/>
                </a:solidFill>
                <a:latin typeface="Aptos"/>
              </a:defRPr>
            </a:pPr>
            <a:r>
              <a:t>Recent-question history and source file timestamp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2971800"/>
            <a:ext cx="4800600" cy="2057400"/>
          </a:xfrm>
          <a:prstGeom prst="roundRect">
            <a:avLst/>
          </a:prstGeom>
          <a:solidFill>
            <a:srgbClr val="12395B"/>
          </a:solidFill>
          <a:ln>
            <a:solidFill>
              <a:srgbClr val="376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>
              <a:spcAft>
                <a:spcPts val="800"/>
              </a:spcAft>
              <a:defRPr sz="1400">
                <a:solidFill>
                  <a:srgbClr val="F5F2E9"/>
                </a:solidFill>
                <a:latin typeface="Aptos"/>
              </a:defRPr>
            </a:pPr>
            <a:r>
              <a:t>JSON structured results for integrations</a:t>
            </a:r>
          </a:p>
          <a:p>
            <a:pPr>
              <a:spcAft>
                <a:spcPts val="800"/>
              </a:spcAft>
              <a:defRPr sz="1400">
                <a:solidFill>
                  <a:srgbClr val="F5F2E9"/>
                </a:solidFill>
                <a:latin typeface="Aptos"/>
              </a:defRPr>
            </a:pPr>
            <a:r>
              <a:t>Optional skill, CL, country, city, availability, limit filters</a:t>
            </a:r>
          </a:p>
          <a:p>
            <a:pPr>
              <a:spcAft>
                <a:spcPts val="800"/>
              </a:spcAft>
              <a:defRPr sz="1400">
                <a:solidFill>
                  <a:srgbClr val="F5F2E9"/>
                </a:solidFill>
                <a:latin typeface="Aptos"/>
              </a:defRPr>
            </a:pPr>
            <a:r>
              <a:t>Schema discoverability through /resources/columns</a:t>
            </a:r>
          </a:p>
          <a:p>
            <a:pPr>
              <a:spcAft>
                <a:spcPts val="800"/>
              </a:spcAft>
              <a:defRPr sz="1400">
                <a:solidFill>
                  <a:srgbClr val="F5F2E9"/>
                </a:solidFill>
                <a:latin typeface="Aptos"/>
              </a:defRPr>
            </a:pPr>
            <a:r>
              <a:t>Explicit ?Expected resource not available in TechOps? response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06440"/>
            <a:ext cx="10789920" cy="38404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ctr"/>
            <a:r>
              <a:rPr sz="1400" b="0">
                <a:solidFill>
                  <a:srgbClr val="F5F2E9"/>
                </a:solidFill>
                <a:latin typeface="Aptos"/>
              </a:rPr>
              <a:t>Deployment model: Python runtime + pandas/openpyxl + Streamlit/FastAPI, with the Excel workbook as the operational source of truth.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2700" b="1">
                <a:solidFill>
                  <a:srgbClr val="D8B85A"/>
                </a:solidFill>
                <a:latin typeface="Aptos Display"/>
              </a:rPr>
              <a:t>6. Key design decisions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88136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00" b="0">
                <a:solidFill>
                  <a:srgbClr val="F5F2E9"/>
                </a:solidFill>
                <a:latin typeface="Aptos"/>
              </a:rPr>
              <a:t>Current safeguards and extensibility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1109960" cy="13716"/>
          </a:xfrm>
          <a:prstGeom prst="rect">
            <a:avLst/>
          </a:prstGeom>
          <a:solidFill>
            <a:srgbClr val="0F7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57800" cy="4160520"/>
          </a:xfrm>
          <a:prstGeom prst="roundRect">
            <a:avLst/>
          </a:prstGeom>
          <a:solidFill>
            <a:srgbClr val="12395B"/>
          </a:solidFill>
          <a:ln>
            <a:solidFill>
              <a:srgbClr val="376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>
              <a:spcAft>
                <a:spcPts val="800"/>
              </a:spcAft>
              <a:defRPr sz="1500">
                <a:solidFill>
                  <a:srgbClr val="F5F2E9"/>
                </a:solidFill>
                <a:latin typeface="Aptos"/>
              </a:defRPr>
            </a:pPr>
            <a:r>
              <a:t>Structured-only staffing recommendations; no generic GenAI staffing mode</a:t>
            </a:r>
          </a:p>
          <a:p>
            <a:pPr>
              <a:spcAft>
                <a:spcPts val="800"/>
              </a:spcAft>
              <a:defRPr sz="1500">
                <a:solidFill>
                  <a:srgbClr val="F5F2E9"/>
                </a:solidFill>
                <a:latin typeface="Aptos"/>
              </a:defRPr>
            </a:pPr>
            <a:r>
              <a:t>Primary/secondary skill matching is the authoritative skill source</a:t>
            </a:r>
          </a:p>
          <a:p>
            <a:pPr>
              <a:spcAft>
                <a:spcPts val="800"/>
              </a:spcAft>
              <a:defRPr sz="1500">
                <a:solidFill>
                  <a:srgbClr val="F5F2E9"/>
                </a:solidFill>
                <a:latin typeface="Aptos"/>
              </a:defRPr>
            </a:pPr>
            <a:r>
              <a:t>Career level remains a fixed requirement for partial multi-skill results</a:t>
            </a:r>
          </a:p>
          <a:p>
            <a:pPr>
              <a:spcAft>
                <a:spcPts val="800"/>
              </a:spcAft>
              <a:defRPr sz="1500">
                <a:solidFill>
                  <a:srgbClr val="F5F2E9"/>
                </a:solidFill>
                <a:latin typeface="Aptos"/>
              </a:defRPr>
            </a:pPr>
            <a:r>
              <a:t>Current availability requires positive capacity and an ended contract</a:t>
            </a:r>
          </a:p>
          <a:p>
            <a:pPr>
              <a:spcAft>
                <a:spcPts val="800"/>
              </a:spcAft>
              <a:defRPr sz="1500">
                <a:solidFill>
                  <a:srgbClr val="F5F2E9"/>
                </a:solidFill>
                <a:latin typeface="Aptos"/>
              </a:defRPr>
            </a:pPr>
            <a:r>
              <a:t>Future contract availability is evaluated independently from current capacity</a:t>
            </a:r>
          </a:p>
          <a:p>
            <a:pPr>
              <a:spcAft>
                <a:spcPts val="800"/>
              </a:spcAft>
              <a:defRPr sz="1500">
                <a:solidFill>
                  <a:srgbClr val="F5F2E9"/>
                </a:solidFill>
                <a:latin typeface="Aptos"/>
              </a:defRPr>
            </a:pPr>
            <a:r>
              <a:t>All results retain original PMO fields for traceability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508760"/>
            <a:ext cx="5212080" cy="4160520"/>
          </a:xfrm>
          <a:prstGeom prst="roundRect">
            <a:avLst/>
          </a:prstGeom>
          <a:solidFill>
            <a:srgbClr val="0F5463"/>
          </a:solidFill>
          <a:ln>
            <a:solidFill>
              <a:srgbClr val="376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>
              <a:spcAft>
                <a:spcPts val="800"/>
              </a:spcAft>
              <a:defRPr sz="1500">
                <a:solidFill>
                  <a:srgbClr val="F5F2E9"/>
                </a:solidFill>
                <a:latin typeface="Aptos"/>
              </a:defRPr>
            </a:pPr>
            <a:r>
              <a:t>Introduce canonical skill IDs and alias vocabulary</a:t>
            </a:r>
          </a:p>
          <a:p>
            <a:pPr>
              <a:spcAft>
                <a:spcPts val="800"/>
              </a:spcAft>
              <a:defRPr sz="1500">
                <a:solidFill>
                  <a:srgbClr val="F5F2E9"/>
                </a:solidFill>
                <a:latin typeface="Aptos"/>
              </a:defRPr>
            </a:pPr>
            <a:r>
              <a:t>Add explicit availability windows and assignment events</a:t>
            </a:r>
          </a:p>
          <a:p>
            <a:pPr>
              <a:spcAft>
                <a:spcPts val="800"/>
              </a:spcAft>
              <a:defRPr sz="1500">
                <a:solidFill>
                  <a:srgbClr val="F5F2E9"/>
                </a:solidFill>
                <a:latin typeface="Aptos"/>
              </a:defRPr>
            </a:pPr>
            <a:r>
              <a:t>Persist parsed requests and match explanations for auditability</a:t>
            </a:r>
          </a:p>
          <a:p>
            <a:pPr>
              <a:spcAft>
                <a:spcPts val="800"/>
              </a:spcAft>
              <a:defRPr sz="1500">
                <a:solidFill>
                  <a:srgbClr val="F5F2E9"/>
                </a:solidFill>
                <a:latin typeface="Aptos"/>
              </a:defRPr>
            </a:pPr>
            <a:r>
              <a:t>Add automated data-quality reports for dates, CL, IDs, and skills</a:t>
            </a:r>
          </a:p>
          <a:p>
            <a:pPr>
              <a:spcAft>
                <a:spcPts val="800"/>
              </a:spcAft>
              <a:defRPr sz="1500">
                <a:solidFill>
                  <a:srgbClr val="F5F2E9"/>
                </a:solidFill>
                <a:latin typeface="Aptos"/>
              </a:defRPr>
            </a:pPr>
            <a:r>
              <a:t>Move from denormalized workbook fields toward a governed resource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989320"/>
            <a:ext cx="10698480" cy="3657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ctr"/>
            <a:r>
              <a:rPr sz="1600" b="1">
                <a:solidFill>
                  <a:srgbClr val="D8B85A"/>
                </a:solidFill>
                <a:latin typeface="Aptos"/>
              </a:rPr>
              <a:t>Outcome: a transparent, explainable staffing assistant that converts demand language into deterministic resource recommendations.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64592"/>
            <a:ext cx="6400800" cy="4754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900" b="1">
                <a:solidFill>
                  <a:srgbClr val="081D37"/>
                </a:solidFill>
                <a:latin typeface="Aptos"/>
              </a:rPr>
              <a:t>Technical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58952"/>
            <a:ext cx="1234440" cy="45720"/>
          </a:xfrm>
          <a:prstGeom prst="rect">
            <a:avLst/>
          </a:prstGeom>
          <a:solidFill>
            <a:srgbClr val="EF9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96112"/>
            <a:ext cx="77724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00" b="0">
                <a:solidFill>
                  <a:srgbClr val="232F3C"/>
                </a:solidFill>
                <a:latin typeface="Aptos"/>
              </a:rPr>
              <a:t>Current Python solution - Streamlit UI, FastAPI services and workbook-grounded 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34440"/>
            <a:ext cx="11292840" cy="3977639"/>
          </a:xfrm>
          <a:prstGeom prst="rect">
            <a:avLst/>
          </a:prstGeom>
          <a:solidFill>
            <a:srgbClr val="FFFFFF"/>
          </a:solidFill>
          <a:ln w="13970">
            <a:solidFill>
              <a:srgbClr val="5E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44168"/>
            <a:ext cx="106984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100" b="1">
                <a:solidFill>
                  <a:srgbClr val="232F3C"/>
                </a:solidFill>
                <a:latin typeface="Aptos"/>
              </a:rPr>
              <a:t>Structured staffing search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423160"/>
            <a:ext cx="82296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1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ctr"/>
            <a:r>
              <a:rPr sz="1100" b="1">
                <a:solidFill>
                  <a:srgbClr val="081D37"/>
                </a:solidFill>
                <a:latin typeface="Aptos"/>
              </a:rPr>
              <a:t>User
Question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83080" y="2103120"/>
            <a:ext cx="1627632" cy="1234440"/>
          </a:xfrm>
          <a:prstGeom prst="roundRect">
            <a:avLst/>
          </a:prstGeom>
          <a:solidFill>
            <a:srgbClr val="FFECF6"/>
          </a:solidFill>
          <a:ln w="15240">
            <a:solidFill>
              <a:srgbClr val="EF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ctr"/>
            <a:r>
              <a:rPr sz="1200" b="1">
                <a:solidFill>
                  <a:srgbClr val="081D37"/>
                </a:solidFill>
                <a:latin typeface="Aptos"/>
              </a:rPr>
              <a:t>STREAMLIT UI
Chat + dashboard
History + exports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99616" y="2752344"/>
            <a:ext cx="256032" cy="0"/>
          </a:xfrm>
          <a:prstGeom prst="line">
            <a:avLst/>
          </a:prstGeom>
          <a:ln w="19050">
            <a:solidFill>
              <a:srgbClr val="081D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703320" y="1664208"/>
            <a:ext cx="3246120" cy="3063240"/>
          </a:xfrm>
          <a:prstGeom prst="roundRect">
            <a:avLst/>
          </a:prstGeom>
          <a:solidFill>
            <a:srgbClr val="EBF5FD"/>
          </a:solidFill>
          <a:ln w="13970">
            <a:solidFill>
              <a:srgbClr val="318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76472" y="1728216"/>
            <a:ext cx="3099815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100" b="1">
                <a:solidFill>
                  <a:srgbClr val="3189CD"/>
                </a:solidFill>
                <a:latin typeface="Aptos"/>
              </a:rPr>
              <a:t>PYTHON / FASTAPI BACKEND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13632" y="1965960"/>
            <a:ext cx="132588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18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ctr"/>
            <a:r>
              <a:rPr sz="1000" b="1">
                <a:solidFill>
                  <a:srgbClr val="081D37"/>
                </a:solidFill>
                <a:latin typeface="Aptos"/>
              </a:rPr>
              <a:t>Request handling
POST /resources/search
GET /resources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22392" y="1965960"/>
            <a:ext cx="1261872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18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ctr"/>
            <a:r>
              <a:rPr sz="1000" b="1">
                <a:solidFill>
                  <a:srgbClr val="081D37"/>
                </a:solidFill>
                <a:latin typeface="Aptos"/>
              </a:rPr>
              <a:t>TechOpsService
Schema validation
Resource loading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57800" y="2359152"/>
            <a:ext cx="137160" cy="0"/>
          </a:xfrm>
          <a:prstGeom prst="line">
            <a:avLst/>
          </a:prstGeom>
          <a:ln w="15240">
            <a:solidFill>
              <a:srgbClr val="3189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913632" y="3090672"/>
            <a:ext cx="132588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8B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ctr"/>
            <a:r>
              <a:rPr sz="1000" b="1">
                <a:solidFill>
                  <a:srgbClr val="081D37"/>
                </a:solidFill>
                <a:latin typeface="Aptos"/>
              </a:rPr>
              <a:t>Prompt parser
Skills | CL | dates
location | availability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22392" y="3090672"/>
            <a:ext cx="1261872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8B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ctr"/>
            <a:r>
              <a:rPr sz="1000" b="1">
                <a:solidFill>
                  <a:srgbClr val="081D37"/>
                </a:solidFill>
                <a:latin typeface="Aptos"/>
              </a:rPr>
              <a:t>Matching + scoring
Exact / partial
validation message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257800" y="3547872"/>
            <a:ext cx="137160" cy="0"/>
          </a:xfrm>
          <a:prstGeom prst="line">
            <a:avLst/>
          </a:prstGeom>
          <a:ln w="15240">
            <a:solidFill>
              <a:srgbClr val="2E8B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38144" y="2743200"/>
            <a:ext cx="237743" cy="0"/>
          </a:xfrm>
          <a:prstGeom prst="line">
            <a:avLst/>
          </a:prstGeom>
          <a:ln w="19050">
            <a:solidFill>
              <a:srgbClr val="3189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296912" y="1664208"/>
            <a:ext cx="4050791" cy="1417320"/>
          </a:xfrm>
          <a:prstGeom prst="roundRect">
            <a:avLst/>
          </a:prstGeom>
          <a:solidFill>
            <a:srgbClr val="EDF9EF"/>
          </a:solidFill>
          <a:ln w="13970">
            <a:solidFill>
              <a:srgbClr val="49A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70064" y="1728216"/>
            <a:ext cx="3904487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100" b="1">
                <a:solidFill>
                  <a:srgbClr val="49A366"/>
                </a:solidFill>
                <a:latin typeface="Aptos"/>
              </a:rPr>
              <a:t>RESOURCE SEARCH MODE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2084831"/>
            <a:ext cx="1234440" cy="594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9A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ctr"/>
            <a:r>
              <a:rPr sz="1000" b="1">
                <a:solidFill>
                  <a:srgbClr val="081D37"/>
                </a:solidFill>
                <a:latin typeface="Aptos"/>
              </a:rPr>
              <a:t>Excel workbook
360 TechOps resources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62288" y="2084831"/>
            <a:ext cx="1783080" cy="594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9A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ctr"/>
            <a:r>
              <a:rPr sz="1000" b="1">
                <a:solidFill>
                  <a:srgbClr val="081D37"/>
                </a:solidFill>
                <a:latin typeface="Aptos"/>
              </a:rPr>
              <a:t>Structured result
MatchScore + fields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814816" y="2377440"/>
            <a:ext cx="310896" cy="0"/>
          </a:xfrm>
          <a:prstGeom prst="line">
            <a:avLst/>
          </a:prstGeom>
          <a:ln w="15240">
            <a:solidFill>
              <a:srgbClr val="49A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967728" y="2487168"/>
            <a:ext cx="512064" cy="347472"/>
          </a:xfrm>
          <a:prstGeom prst="line">
            <a:avLst/>
          </a:prstGeom>
          <a:ln w="15240">
            <a:solidFill>
              <a:srgbClr val="49A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296912" y="3337560"/>
            <a:ext cx="4050791" cy="1389888"/>
          </a:xfrm>
          <a:prstGeom prst="roundRect">
            <a:avLst/>
          </a:prstGeom>
          <a:solidFill>
            <a:srgbClr val="FFF7E2"/>
          </a:solidFill>
          <a:ln w="13970">
            <a:solidFill>
              <a:srgbClr val="EF9C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70064" y="3401568"/>
            <a:ext cx="3904487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100" b="1">
                <a:solidFill>
                  <a:srgbClr val="EF9C2F"/>
                </a:solidFill>
                <a:latin typeface="Aptos"/>
              </a:rPr>
              <a:t>BUSINESS RULES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71231" y="3703320"/>
            <a:ext cx="3502152" cy="7863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F9C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ctr"/>
            <a:r>
              <a:rPr sz="1000" b="0">
                <a:solidFill>
                  <a:srgbClr val="081D37"/>
                </a:solidFill>
                <a:latin typeface="Aptos"/>
              </a:rPr>
              <a:t>Skill: Primary OR Secondary
CL: exact / hierarchy
Current: Availability &gt; 0 + contract ended
Future: contract end-date boundary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814816" y="2724912"/>
            <a:ext cx="0" cy="585216"/>
          </a:xfrm>
          <a:prstGeom prst="line">
            <a:avLst/>
          </a:prstGeom>
          <a:ln w="12700">
            <a:solidFill>
              <a:srgbClr val="49A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967728" y="3703320"/>
            <a:ext cx="512064" cy="521208"/>
          </a:xfrm>
          <a:prstGeom prst="line">
            <a:avLst/>
          </a:prstGeom>
          <a:ln w="15240">
            <a:solidFill>
              <a:srgbClr val="EF9C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3456432" y="3246120"/>
            <a:ext cx="3858768" cy="1252728"/>
          </a:xfrm>
          <a:prstGeom prst="line">
            <a:avLst/>
          </a:prstGeom>
          <a:ln w="15240">
            <a:solidFill>
              <a:srgbClr val="081D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828800" y="3886200"/>
            <a:ext cx="1600200" cy="640080"/>
          </a:xfrm>
          <a:prstGeom prst="roundRect">
            <a:avLst/>
          </a:prstGeom>
          <a:solidFill>
            <a:srgbClr val="EFFAFF"/>
          </a:solidFill>
          <a:ln w="15240">
            <a:solidFill>
              <a:srgbClr val="318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ctr"/>
            <a:r>
              <a:rPr sz="1000" b="1">
                <a:solidFill>
                  <a:srgbClr val="081D37"/>
                </a:solidFill>
                <a:latin typeface="Aptos"/>
              </a:rPr>
              <a:t>Ranked table
CSV / Excel download</a:t>
            </a:r>
          </a:p>
        </p:txBody>
      </p:sp>
      <p:cxnSp>
        <p:nvCxnSpPr>
          <p:cNvPr id="32" name="Connector 31"/>
          <p:cNvCxnSpPr/>
          <p:nvPr/>
        </p:nvCxnSpPr>
        <p:spPr>
          <a:xfrm flipH="1" flipV="1">
            <a:off x="1536192" y="3154680"/>
            <a:ext cx="246888" cy="1051560"/>
          </a:xfrm>
          <a:prstGeom prst="line">
            <a:avLst/>
          </a:prstGeom>
          <a:ln w="15240">
            <a:solidFill>
              <a:srgbClr val="081D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66928" y="5440680"/>
            <a:ext cx="182880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00" b="1">
                <a:solidFill>
                  <a:srgbClr val="3189CD"/>
                </a:solidFill>
                <a:latin typeface="Aptos"/>
              </a:rPr>
              <a:t>DATA SOURCE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5650992"/>
            <a:ext cx="507492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18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ctr"/>
            <a:r>
              <a:rPr sz="1000" b="0">
                <a:solidFill>
                  <a:srgbClr val="081D37"/>
                </a:solidFill>
                <a:latin typeface="Aptos"/>
              </a:rPr>
              <a:t>TechOps_DataFile.xlsx
EnterpriseId | CL | Skills | Availability
Country/City | ContractStartDate | ContractEndDate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440680"/>
            <a:ext cx="210312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00" b="1">
                <a:solidFill>
                  <a:srgbClr val="49A366"/>
                </a:solidFill>
                <a:latin typeface="Aptos"/>
              </a:rPr>
              <a:t>TECHNOLOGY STACK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5650992"/>
            <a:ext cx="1353312" cy="265176"/>
          </a:xfrm>
          <a:prstGeom prst="roundRect">
            <a:avLst/>
          </a:prstGeom>
          <a:solidFill>
            <a:srgbClr val="3189CD"/>
          </a:solidFill>
          <a:ln w="15240">
            <a:solidFill>
              <a:srgbClr val="318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Python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01000" y="5650992"/>
            <a:ext cx="1353312" cy="265176"/>
          </a:xfrm>
          <a:prstGeom prst="roundRect">
            <a:avLst/>
          </a:prstGeom>
          <a:solidFill>
            <a:srgbClr val="DD5757"/>
          </a:solidFill>
          <a:ln w="15240">
            <a:solidFill>
              <a:srgbClr val="DD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Streamlit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01200" y="5650992"/>
            <a:ext cx="1353312" cy="265176"/>
          </a:xfrm>
          <a:prstGeom prst="roundRect">
            <a:avLst/>
          </a:prstGeom>
          <a:solidFill>
            <a:srgbClr val="2E8B93"/>
          </a:solidFill>
          <a:ln w="15240">
            <a:solidFill>
              <a:srgbClr val="2E8B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FastAPI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6044183"/>
            <a:ext cx="1353312" cy="265176"/>
          </a:xfrm>
          <a:prstGeom prst="roundRect">
            <a:avLst/>
          </a:prstGeom>
          <a:solidFill>
            <a:srgbClr val="915DBE"/>
          </a:solidFill>
          <a:ln w="15240">
            <a:solidFill>
              <a:srgbClr val="915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Pandas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01000" y="6044183"/>
            <a:ext cx="1353312" cy="265176"/>
          </a:xfrm>
          <a:prstGeom prst="roundRect">
            <a:avLst/>
          </a:prstGeom>
          <a:solidFill>
            <a:srgbClr val="49A366"/>
          </a:solidFill>
          <a:ln w="15240">
            <a:solidFill>
              <a:srgbClr val="49A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OpenPyXL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6355080"/>
            <a:ext cx="5212080" cy="23774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900" b="0">
                <a:solidFill>
                  <a:srgbClr val="232F3C"/>
                </a:solidFill>
                <a:latin typeface="Aptos"/>
              </a:rPr>
              <a:t>Architecture note: the legacy ASP.NET MVC frontend is replaced by Streamlit; recommendation logic remains deterministic and workbook-grounded.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647688"/>
            <a:ext cx="7315200" cy="14630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800" b="0">
                <a:solidFill>
                  <a:srgbClr val="6E6E6E"/>
                </a:solidFill>
                <a:latin typeface="Aptos"/>
              </a:rPr>
              <a:t>PM Assistant | Technical Architecture | 15 September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